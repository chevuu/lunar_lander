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embeddedFontLst>
    <p:embeddedFont>
      <p:font typeface="Play"/>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3AFDB9-C6B9-4630-96C2-FC3DD8BEF7E7}">
  <a:tblStyle styleId="{C73AFDB9-C6B9-4630-96C2-FC3DD8BEF7E7}" styleName="Table_0">
    <a:wholeTbl>
      <a:tcTxStyle b="off" i="off">
        <a:font>
          <a:latin typeface="Aptos"/>
          <a:ea typeface="Aptos"/>
          <a:cs typeface="Apto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dk1">
              <a:alpha val="20000"/>
            </a:schemeClr>
          </a:solidFill>
        </a:fill>
      </a:tcStyle>
    </a:band1H>
    <a:band2H>
      <a:tcTxStyle/>
    </a:band2H>
    <a:band1V>
      <a:tcTxStyle/>
      <a:tcStyle>
        <a:fill>
          <a:solidFill>
            <a:schemeClr val="dk1">
              <a:alpha val="20000"/>
            </a:schemeClr>
          </a:solidFill>
        </a:fill>
      </a:tcStyle>
    </a:band1V>
    <a:band2V>
      <a:tcTxStyle/>
    </a:band2V>
    <a:lastCol>
      <a:tcTxStyle b="on" i="off"/>
    </a:lastCol>
    <a:firstCol>
      <a:tcTxStyle b="on" i="off"/>
    </a:firstCol>
    <a:lastRow>
      <a:tcTxStyle b="on" i="off"/>
      <a:tcStyle>
        <a:tcBdr>
          <a:top>
            <a:ln cap="flat" cmpd="sng" w="12700">
              <a:solidFill>
                <a:schemeClr val="dk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dk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79CD4309-65B2-41A8-967B-00DAE9558566}" styleName="Table_1">
    <a:wholeTbl>
      <a:tcTxStyle b="off" i="off">
        <a:font>
          <a:latin typeface="Aptos"/>
          <a:ea typeface="Aptos"/>
          <a:cs typeface="Apto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chemeClr val="dk1">
              <a:alpha val="20000"/>
            </a:schemeClr>
          </a:solidFill>
        </a:fill>
      </a:tcStyle>
    </a:band1H>
    <a:band2H>
      <a:tcTxStyle b="off" i="off"/>
    </a:band2H>
    <a:band1V>
      <a:tcTxStyle b="off" i="off"/>
      <a:tcStyle>
        <a:fill>
          <a:solidFill>
            <a:schemeClr val="dk1">
              <a:alpha val="20000"/>
            </a:schemeClr>
          </a:solidFill>
        </a:fill>
      </a:tcStyle>
    </a:band1V>
    <a:band2V>
      <a:tcTxStyle b="off" i="off"/>
    </a:band2V>
    <a:lastCol>
      <a:tcTxStyle b="on" i="off"/>
    </a:lastCol>
    <a:firstCol>
      <a:tcTxStyle b="on" i="off"/>
    </a:firstCol>
    <a:lastRow>
      <a:tcTxStyle b="on" i="off"/>
      <a:tcStyle>
        <a:tcBdr>
          <a:top>
            <a:ln cap="flat" cmpd="sng" w="12700">
              <a:solidFill>
                <a:schemeClr val="dk1"/>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chemeClr val="dk1"/>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ay-regular.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Play-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a0d24ca08_0_6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g3ea0d24ca08_0_6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a0d24ca08_0_6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g3ea0d24ca08_0_6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a0d24ca08_0_5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ea0d24ca08_0_5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the best values indicate, the results showed that large population size and maximum tree size corresponded to better scores. However, nearly half of the results converged to the same -1391.95 score. Investigating this, the root causes were proposed to be an unprotected exponential node, lack of elitism and the nature of the fitness function.</a:t>
            </a:r>
            <a:endParaRPr/>
          </a:p>
        </p:txBody>
      </p:sp>
      <p:sp>
        <p:nvSpPr>
          <p:cNvPr id="137" name="Google Shape;137;g3ea0d24ca08_0_5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Parameters from the hyperparameter sweep, 15 training episodes per individual, 50 generations for training, 10 episodes for testing. Each episode has a duration of 500 frames.</a:t>
            </a:r>
            <a:endParaRPr/>
          </a:p>
        </p:txBody>
      </p:sp>
      <p:sp>
        <p:nvSpPr>
          <p:cNvPr id="163" name="Google Shape;1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a09722463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ea09722463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Parameters from the hyperparameter sweep, 15 training episodes per individual, 50 generations for training, 10 episodes for testing. Each episode has a duration of 500 frames.</a:t>
            </a:r>
            <a:endParaRPr/>
          </a:p>
        </p:txBody>
      </p:sp>
      <p:sp>
        <p:nvSpPr>
          <p:cNvPr id="175" name="Google Shape;175;g3ea09722463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 parsimony weight was multiplied with the length of the tree and subtracted from the overall fitness. Done to discourage bloated tree sizes. This was also disabled due to the established maximum tree size parameter being a good enough driver.</a:t>
            </a:r>
            <a:endParaRPr/>
          </a:p>
        </p:txBody>
      </p:sp>
      <p:sp>
        <p:nvSpPr>
          <p:cNvPr id="197" name="Google Shape;19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Removes the pure fitness-based selection by allowing the model to be tested on “unseen data”. Validation episode seeds are base_seed + 50000 + generation x 1000. The validation survival rates are noisier due to the validation episode seeds being different every time.</a:t>
            </a:r>
            <a:endParaRPr/>
          </a:p>
        </p:txBody>
      </p:sp>
      <p:sp>
        <p:nvSpPr>
          <p:cNvPr id="217" name="Google Shape;21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raw and evolved trees are evaluated over a certain number of episodes (10) with seeds offset by some amount (75000). The final scores are compared. The interval this is performed in is the same interval for which experiment artifacts are stored.</a:t>
            </a:r>
            <a:endParaRPr/>
          </a:p>
        </p:txBody>
      </p:sp>
      <p:sp>
        <p:nvSpPr>
          <p:cNvPr id="227" name="Google Shape;22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ea0d24ca0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3ea0d24ca0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Parameters from the hyperparameter sweep, 20 training episodes per individual, 200 generations for training, 30 episodes for testing. Each episode has a duration of 500 frames. No crash penalty or parsimony. Time pressure with a weight of 0.01. Validation-based and coefficient-gated. </a:t>
            </a:r>
            <a:br>
              <a:rPr lang="en-US"/>
            </a:br>
            <a:br>
              <a:rPr lang="en-US"/>
            </a:br>
            <a:r>
              <a:rPr lang="en-US"/>
              <a:t>The fitness score and survival rates are the highest values obtained so far. The model also shows the first signs of individuals in a generation that had no crashes in their training episodes. The performance on the model on test episodes is also highly satisfactory, with most resulting in a score considered a success by Gymnasium’s standards (above 200). </a:t>
            </a:r>
            <a:endParaRPr/>
          </a:p>
        </p:txBody>
      </p:sp>
      <p:sp>
        <p:nvSpPr>
          <p:cNvPr id="237" name="Google Shape;237;g3ea0d24ca0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ea0d24ca08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3ea0d24ca08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Parameters from the hyperparameter sweep, 20 training episodes per individual, 200 generations for training, 30 episodes for testing. Each episode has a duration of 500 frames. No crash penalty or parsimony. Time pressure with a weight of 0.01. Validation-based and coefficient-gated. </a:t>
            </a:r>
            <a:br>
              <a:rPr lang="en-US"/>
            </a:br>
            <a:br>
              <a:rPr lang="en-US"/>
            </a:br>
            <a:r>
              <a:rPr lang="en-US"/>
              <a:t>The fitness score and survival rates are the highest values obtained so far. The model also shows the first signs of individuals in a generation that had no crashes in their training episodes. The performance on the model on test episodes is also highly satisfactory, with most resulting in a score considered a success by Gymnasium’s standards (above 200). </a:t>
            </a:r>
            <a:endParaRPr/>
          </a:p>
        </p:txBody>
      </p:sp>
      <p:sp>
        <p:nvSpPr>
          <p:cNvPr id="246" name="Google Shape;246;g3ea0d24ca08_0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ea09722463_2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3ea09722463_2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Parameters from the hyperparameter sweep, 20 training episodes per individual, 200 generations for training, 30 episodes for testing. Each episode has a duration of 500 frames. No crash penalty or parsimony. Time pressure with a weight of 0.01. Validation-based and coefficient-gated. </a:t>
            </a:r>
            <a:br>
              <a:rPr lang="en-US"/>
            </a:br>
            <a:br>
              <a:rPr lang="en-US"/>
            </a:br>
            <a:r>
              <a:rPr lang="en-US"/>
              <a:t>The fitness score and survival rates are the highest values obtained so far. The model also shows the first signs of individuals in a generation that had no crashes in their training episodes. The performance on the model on test episodes is also highly satisfactory, with most resulting in a score considered a success by Gymnasium’s standards (above 200). </a:t>
            </a:r>
            <a:endParaRPr/>
          </a:p>
        </p:txBody>
      </p:sp>
      <p:sp>
        <p:nvSpPr>
          <p:cNvPr id="255" name="Google Shape;255;g3ea09722463_2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ea0d24ca08_0_2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g3ea0d24ca08_0_2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Parameters from the hyperparameter sweep, 20 training episodes per individual, 200 generations for training, 30 episodes for testing. Each episode has a duration of 500 frames. No crash penalty or parsimony. Time pressure with a weight of 0.01. Validation-based and coefficient-gated. </a:t>
            </a:r>
            <a:br>
              <a:rPr lang="en-US"/>
            </a:br>
            <a:br>
              <a:rPr lang="en-US"/>
            </a:br>
            <a:r>
              <a:rPr lang="en-US"/>
              <a:t>The fitness score and survival rates are the highest values obtained so far. The model also shows the first signs of individuals in a generation that had no crashes in their training episodes. The performance on the model on test episodes is also highly satisfactory, with most resulting in a score considered a success by Gymnasium’s standards (above 200). </a:t>
            </a:r>
            <a:endParaRPr/>
          </a:p>
        </p:txBody>
      </p:sp>
      <p:sp>
        <p:nvSpPr>
          <p:cNvPr id="264" name="Google Shape;264;g3ea0d24ca08_0_2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ea0d24ca08_0_3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ea0d24ca08_0_3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3ea0d24ca08_0_3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ea0d24ca08_0_7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ea0d24ca08_0_7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g3ea0d24ca08_0_7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ea0d24ca08_0_7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3ea0d24ca08_0_7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 parsimony weight was multiplied with the length of the tree and subtracted from the overall fitness. Done to discourage bloated tree sizes. This was also disabled due to the established maximum tree size parameter being a good enough driver.</a:t>
            </a:r>
            <a:endParaRPr/>
          </a:p>
        </p:txBody>
      </p:sp>
      <p:sp>
        <p:nvSpPr>
          <p:cNvPr id="307" name="Google Shape;307;g3ea0d24ca08_0_7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ea0d24ca08_0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3ea0d24ca08_0_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Parameters from the hyperparameter sweep, 20 training episodes per individual, 200 generations for training, 30 episodes for testing. Each episode has a duration of 500 frames. No crash penalty or parsimony. Time pressure with a weight of 0.01. Validation-based and coefficient-gated. </a:t>
            </a:r>
            <a:br>
              <a:rPr lang="en-US"/>
            </a:br>
            <a:br>
              <a:rPr lang="en-US"/>
            </a:br>
            <a:r>
              <a:rPr lang="en-US"/>
              <a:t>The fitness score and survival rates are the highest values obtained so far. The model also shows the first signs of individuals in a generation that had no crashes in their training episodes. The performance on the model on test episodes is also highly satisfactory, with most resulting in a score considered a success by Gymnasium’s standards (above 200). </a:t>
            </a:r>
            <a:endParaRPr/>
          </a:p>
        </p:txBody>
      </p:sp>
      <p:sp>
        <p:nvSpPr>
          <p:cNvPr id="316" name="Google Shape;316;g3ea0d24ca08_0_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gymnasium.farama.org/environments/box2d/lunar_lande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9.png"/><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gif"/><Relationship Id="rId4" Type="http://schemas.openxmlformats.org/officeDocument/2006/relationships/image" Target="../media/image10.gif"/><Relationship Id="rId5" Type="http://schemas.openxmlformats.org/officeDocument/2006/relationships/image" Target="../media/image12.gif"/><Relationship Id="rId6" Type="http://schemas.openxmlformats.org/officeDocument/2006/relationships/image" Target="../media/image20.gif"/><Relationship Id="rId7" Type="http://schemas.openxmlformats.org/officeDocument/2006/relationships/image" Target="../media/image25.gif"/><Relationship Id="rId8" Type="http://schemas.openxmlformats.org/officeDocument/2006/relationships/image" Target="../media/image13.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1.gif"/><Relationship Id="rId4" Type="http://schemas.openxmlformats.org/officeDocument/2006/relationships/image" Target="../media/image16.gif"/><Relationship Id="rId5" Type="http://schemas.openxmlformats.org/officeDocument/2006/relationships/image" Target="../media/image24.gif"/><Relationship Id="rId6" Type="http://schemas.openxmlformats.org/officeDocument/2006/relationships/image" Target="../media/image22.gif"/><Relationship Id="rId7" Type="http://schemas.openxmlformats.org/officeDocument/2006/relationships/image" Target="../media/image23.gif"/><Relationship Id="rId8" Type="http://schemas.openxmlformats.org/officeDocument/2006/relationships/image" Target="../media/image26.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9" name="Google Shape;89;p13"/>
          <p:cNvPicPr preferRelativeResize="0"/>
          <p:nvPr/>
        </p:nvPicPr>
        <p:blipFill rotWithShape="1">
          <a:blip r:embed="rId3">
            <a:alphaModFix/>
          </a:blip>
          <a:srcRect b="1" l="4343" r="20105" t="9091"/>
          <a:stretch/>
        </p:blipFill>
        <p:spPr>
          <a:xfrm>
            <a:off x="3523488" y="10"/>
            <a:ext cx="8668512" cy="6857990"/>
          </a:xfrm>
          <a:prstGeom prst="rect">
            <a:avLst/>
          </a:prstGeom>
          <a:noFill/>
          <a:ln>
            <a:noFill/>
          </a:ln>
        </p:spPr>
      </p:pic>
      <p:sp>
        <p:nvSpPr>
          <p:cNvPr id="90" name="Google Shape;90;p13"/>
          <p:cNvSpPr/>
          <p:nvPr/>
        </p:nvSpPr>
        <p:spPr>
          <a:xfrm>
            <a:off x="3" y="0"/>
            <a:ext cx="9339206" cy="6858000"/>
          </a:xfrm>
          <a:prstGeom prst="rect">
            <a:avLst/>
          </a:prstGeom>
          <a:gradFill>
            <a:gsLst>
              <a:gs pos="0">
                <a:srgbClr val="000000">
                  <a:alpha val="0"/>
                </a:srgbClr>
              </a:gs>
              <a:gs pos="33000">
                <a:srgbClr val="000000">
                  <a:alpha val="63921"/>
                </a:srgbClr>
              </a:gs>
              <a:gs pos="58000">
                <a:schemeClr val="dk1"/>
              </a:gs>
              <a:gs pos="100000">
                <a:schemeClr val="dk1"/>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p13"/>
          <p:cNvSpPr txBox="1"/>
          <p:nvPr>
            <p:ph type="ctrTitle"/>
          </p:nvPr>
        </p:nvSpPr>
        <p:spPr>
          <a:xfrm>
            <a:off x="453039" y="147476"/>
            <a:ext cx="6952398" cy="320413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100"/>
              <a:buFont typeface="Georgia"/>
              <a:buNone/>
            </a:pPr>
            <a:r>
              <a:rPr b="1" lang="en-US" sz="4100">
                <a:solidFill>
                  <a:schemeClr val="lt1"/>
                </a:solidFill>
                <a:latin typeface="Georgia"/>
                <a:ea typeface="Georgia"/>
                <a:cs typeface="Georgia"/>
                <a:sym typeface="Georgia"/>
              </a:rPr>
              <a:t>Evolving a Lunar Lander with Genetic Programming</a:t>
            </a:r>
            <a:endParaRPr/>
          </a:p>
        </p:txBody>
      </p:sp>
      <p:sp>
        <p:nvSpPr>
          <p:cNvPr id="92" name="Google Shape;92;p13"/>
          <p:cNvSpPr txBox="1"/>
          <p:nvPr>
            <p:ph idx="1" type="subTitle"/>
          </p:nvPr>
        </p:nvSpPr>
        <p:spPr>
          <a:xfrm>
            <a:off x="458175" y="3429000"/>
            <a:ext cx="4023300" cy="414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000"/>
              <a:buNone/>
            </a:pPr>
            <a:r>
              <a:rPr lang="en-US" sz="2000">
                <a:solidFill>
                  <a:schemeClr val="lt1"/>
                </a:solidFill>
                <a:latin typeface="Play"/>
                <a:ea typeface="Play"/>
                <a:cs typeface="Play"/>
                <a:sym typeface="Play"/>
              </a:rPr>
              <a:t>Group 22</a:t>
            </a:r>
            <a:endParaRPr/>
          </a:p>
        </p:txBody>
      </p:sp>
      <p:sp>
        <p:nvSpPr>
          <p:cNvPr id="93" name="Google Shape;93;p13"/>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4" name="Google Shape;94;p13"/>
          <p:cNvSpPr/>
          <p:nvPr/>
        </p:nvSpPr>
        <p:spPr>
          <a:xfrm>
            <a:off x="481029" y="4546920"/>
            <a:ext cx="3977640" cy="18288"/>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5" name="Google Shape;95;p13"/>
          <p:cNvSpPr/>
          <p:nvPr/>
        </p:nvSpPr>
        <p:spPr>
          <a:xfrm>
            <a:off x="391026" y="523374"/>
            <a:ext cx="920416" cy="378994"/>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6" name="Google Shape;96;p13"/>
          <p:cNvSpPr txBox="1"/>
          <p:nvPr>
            <p:ph idx="1" type="subTitle"/>
          </p:nvPr>
        </p:nvSpPr>
        <p:spPr>
          <a:xfrm>
            <a:off x="481025" y="3792350"/>
            <a:ext cx="4023300" cy="11295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0"/>
              </a:spcBef>
              <a:spcAft>
                <a:spcPts val="0"/>
              </a:spcAft>
              <a:buClr>
                <a:schemeClr val="lt1"/>
              </a:buClr>
              <a:buSzPts val="950"/>
              <a:buNone/>
            </a:pPr>
            <a:r>
              <a:rPr lang="en-US" sz="1413">
                <a:solidFill>
                  <a:schemeClr val="lt1"/>
                </a:solidFill>
                <a:latin typeface="Play"/>
                <a:ea typeface="Play"/>
                <a:cs typeface="Play"/>
                <a:sym typeface="Play"/>
              </a:rPr>
              <a:t>Vuk Jurišić</a:t>
            </a:r>
            <a:endParaRPr sz="1413">
              <a:solidFill>
                <a:schemeClr val="lt1"/>
              </a:solidFill>
              <a:latin typeface="Play"/>
              <a:ea typeface="Play"/>
              <a:cs typeface="Play"/>
              <a:sym typeface="Play"/>
            </a:endParaRPr>
          </a:p>
          <a:p>
            <a:pPr indent="0" lvl="0" marL="0" rtl="0" algn="l">
              <a:lnSpc>
                <a:spcPct val="95000"/>
              </a:lnSpc>
              <a:spcBef>
                <a:spcPts val="0"/>
              </a:spcBef>
              <a:spcAft>
                <a:spcPts val="0"/>
              </a:spcAft>
              <a:buClr>
                <a:schemeClr val="lt1"/>
              </a:buClr>
              <a:buSzPts val="950"/>
              <a:buNone/>
            </a:pPr>
            <a:r>
              <a:rPr lang="en-US" sz="1413">
                <a:solidFill>
                  <a:schemeClr val="lt1"/>
                </a:solidFill>
                <a:latin typeface="Play"/>
                <a:ea typeface="Play"/>
                <a:cs typeface="Play"/>
                <a:sym typeface="Play"/>
              </a:rPr>
              <a:t>Tom van Beekhoff</a:t>
            </a:r>
            <a:endParaRPr sz="1413">
              <a:solidFill>
                <a:schemeClr val="lt1"/>
              </a:solidFill>
              <a:latin typeface="Play"/>
              <a:ea typeface="Play"/>
              <a:cs typeface="Play"/>
              <a:sym typeface="Play"/>
            </a:endParaRPr>
          </a:p>
          <a:p>
            <a:pPr indent="0" lvl="0" marL="0" rtl="0" algn="l">
              <a:lnSpc>
                <a:spcPct val="95000"/>
              </a:lnSpc>
              <a:spcBef>
                <a:spcPts val="0"/>
              </a:spcBef>
              <a:spcAft>
                <a:spcPts val="0"/>
              </a:spcAft>
              <a:buClr>
                <a:schemeClr val="lt1"/>
              </a:buClr>
              <a:buSzPts val="950"/>
              <a:buNone/>
            </a:pPr>
            <a:r>
              <a:rPr lang="en-US" sz="1413">
                <a:solidFill>
                  <a:schemeClr val="lt1"/>
                </a:solidFill>
                <a:latin typeface="Play"/>
                <a:ea typeface="Play"/>
                <a:cs typeface="Play"/>
                <a:sym typeface="Play"/>
              </a:rPr>
              <a:t>Abishek Manikandan</a:t>
            </a:r>
            <a:endParaRPr sz="1413">
              <a:solidFill>
                <a:schemeClr val="lt1"/>
              </a:solidFill>
              <a:latin typeface="Play"/>
              <a:ea typeface="Play"/>
              <a:cs typeface="Play"/>
              <a:sym typeface="Play"/>
            </a:endParaRPr>
          </a:p>
          <a:p>
            <a:pPr indent="0" lvl="0" marL="0" rtl="0" algn="l">
              <a:lnSpc>
                <a:spcPct val="95000"/>
              </a:lnSpc>
              <a:spcBef>
                <a:spcPts val="0"/>
              </a:spcBef>
              <a:spcAft>
                <a:spcPts val="0"/>
              </a:spcAft>
              <a:buClr>
                <a:schemeClr val="lt1"/>
              </a:buClr>
              <a:buSzPts val="950"/>
              <a:buNone/>
            </a:pPr>
            <a:r>
              <a:rPr lang="en-US" sz="1413">
                <a:solidFill>
                  <a:schemeClr val="lt1"/>
                </a:solidFill>
                <a:latin typeface="Play"/>
                <a:ea typeface="Play"/>
                <a:cs typeface="Play"/>
                <a:sym typeface="Play"/>
              </a:rPr>
              <a:t>Lucas Hoek</a:t>
            </a:r>
            <a:endParaRPr sz="1413">
              <a:solidFill>
                <a:schemeClr val="lt1"/>
              </a:solidFill>
              <a:latin typeface="Play"/>
              <a:ea typeface="Play"/>
              <a:cs typeface="Play"/>
              <a:sym typeface="Play"/>
            </a:endParaRPr>
          </a:p>
          <a:p>
            <a:pPr indent="0" lvl="0" marL="0" rtl="0" algn="l">
              <a:lnSpc>
                <a:spcPct val="95000"/>
              </a:lnSpc>
              <a:spcBef>
                <a:spcPts val="0"/>
              </a:spcBef>
              <a:spcAft>
                <a:spcPts val="0"/>
              </a:spcAft>
              <a:buClr>
                <a:schemeClr val="lt1"/>
              </a:buClr>
              <a:buSzPts val="950"/>
              <a:buNone/>
            </a:pPr>
            <a:r>
              <a:rPr lang="en-US" sz="1413">
                <a:solidFill>
                  <a:schemeClr val="lt1"/>
                </a:solidFill>
                <a:latin typeface="Play"/>
                <a:ea typeface="Play"/>
                <a:cs typeface="Play"/>
                <a:sym typeface="Play"/>
              </a:rPr>
              <a:t>Victor van der Doorn</a:t>
            </a:r>
            <a:endParaRPr sz="1413">
              <a:solidFill>
                <a:schemeClr val="lt1"/>
              </a:solidFill>
              <a:latin typeface="Play"/>
              <a:ea typeface="Play"/>
              <a:cs typeface="Play"/>
              <a:sym typeface="Play"/>
            </a:endParaRPr>
          </a:p>
          <a:p>
            <a:pPr indent="0" lvl="0" marL="0" rtl="0" algn="l">
              <a:lnSpc>
                <a:spcPct val="95000"/>
              </a:lnSpc>
              <a:spcBef>
                <a:spcPts val="0"/>
              </a:spcBef>
              <a:spcAft>
                <a:spcPts val="0"/>
              </a:spcAft>
              <a:buClr>
                <a:schemeClr val="lt1"/>
              </a:buClr>
              <a:buSzPts val="950"/>
              <a:buNone/>
            </a:pPr>
            <a:r>
              <a:t/>
            </a:r>
            <a:endParaRPr sz="1413">
              <a:solidFill>
                <a:schemeClr val="lt1"/>
              </a:solidFill>
              <a:latin typeface="Play"/>
              <a:ea typeface="Play"/>
              <a:cs typeface="Play"/>
              <a:sym typeface="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Challenge</a:t>
            </a:r>
            <a:endParaRPr/>
          </a:p>
        </p:txBody>
      </p:sp>
      <p:sp>
        <p:nvSpPr>
          <p:cNvPr id="102" name="Google Shape;102;p1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t> Train a lunar lander to safely land on the moon</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Complete/Improve basic codebase given by the course</a:t>
            </a:r>
            <a:endParaRPr/>
          </a:p>
          <a:p>
            <a:pPr indent="0" lvl="0" marL="228600" rtl="0" algn="l">
              <a:spcBef>
                <a:spcPts val="1000"/>
              </a:spcBef>
              <a:spcAft>
                <a:spcPts val="0"/>
              </a:spcAft>
              <a:buNone/>
            </a:pPr>
            <a:r>
              <a:t/>
            </a:r>
            <a:endParaRPr/>
          </a:p>
        </p:txBody>
      </p:sp>
      <p:sp>
        <p:nvSpPr>
          <p:cNvPr id="103" name="Google Shape;103;p14"/>
          <p:cNvSpPr txBox="1"/>
          <p:nvPr/>
        </p:nvSpPr>
        <p:spPr>
          <a:xfrm>
            <a:off x="11742821" y="6563226"/>
            <a:ext cx="449100" cy="246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AEAEAE"/>
                </a:solidFill>
                <a:latin typeface="Arial"/>
                <a:ea typeface="Arial"/>
                <a:cs typeface="Arial"/>
                <a:sym typeface="Arial"/>
              </a:rPr>
              <a:t>1</a:t>
            </a:r>
            <a:endParaRPr/>
          </a:p>
        </p:txBody>
      </p:sp>
      <p:cxnSp>
        <p:nvCxnSpPr>
          <p:cNvPr id="104" name="Google Shape;104;p14"/>
          <p:cNvCxnSpPr/>
          <p:nvPr/>
        </p:nvCxnSpPr>
        <p:spPr>
          <a:xfrm rot="10800000">
            <a:off x="636529" y="1540293"/>
            <a:ext cx="10918800" cy="0"/>
          </a:xfrm>
          <a:prstGeom prst="straightConnector1">
            <a:avLst/>
          </a:prstGeom>
          <a:noFill/>
          <a:ln cap="flat" cmpd="sng" w="19050">
            <a:solidFill>
              <a:srgbClr val="E66262"/>
            </a:solidFill>
            <a:prstDash val="solid"/>
            <a:miter lim="8000"/>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Base model</a:t>
            </a:r>
            <a:endParaRPr/>
          </a:p>
        </p:txBody>
      </p:sp>
      <p:sp>
        <p:nvSpPr>
          <p:cNvPr id="110" name="Google Shape;110;p1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t> Genetic programming</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Constants are further optimised using AdamW gradient descent</a:t>
            </a:r>
            <a:endParaRPr/>
          </a:p>
          <a:p>
            <a:pPr indent="-228600" lvl="0" marL="228600" rtl="0" algn="l">
              <a:spcBef>
                <a:spcPts val="0"/>
              </a:spcBef>
              <a:spcAft>
                <a:spcPts val="0"/>
              </a:spcAft>
              <a:buSzPts val="2800"/>
              <a:buFont typeface="Noto Sans Symbols"/>
              <a:buChar char="▪"/>
            </a:pPr>
            <a:r>
              <a:rPr lang="en-US"/>
              <a:t>Output chosen by argmax</a:t>
            </a:r>
            <a:endParaRPr/>
          </a:p>
        </p:txBody>
      </p:sp>
      <p:sp>
        <p:nvSpPr>
          <p:cNvPr id="111" name="Google Shape;111;p15"/>
          <p:cNvSpPr txBox="1"/>
          <p:nvPr/>
        </p:nvSpPr>
        <p:spPr>
          <a:xfrm>
            <a:off x="11742821" y="6563226"/>
            <a:ext cx="449100" cy="246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AEAEAE"/>
                </a:solidFill>
                <a:latin typeface="Arial"/>
                <a:ea typeface="Arial"/>
                <a:cs typeface="Arial"/>
                <a:sym typeface="Arial"/>
              </a:rPr>
              <a:t>1</a:t>
            </a:r>
            <a:endParaRPr/>
          </a:p>
        </p:txBody>
      </p:sp>
      <p:cxnSp>
        <p:nvCxnSpPr>
          <p:cNvPr id="112" name="Google Shape;112;p15"/>
          <p:cNvCxnSpPr/>
          <p:nvPr/>
        </p:nvCxnSpPr>
        <p:spPr>
          <a:xfrm rot="10800000">
            <a:off x="636529" y="1540293"/>
            <a:ext cx="10918800" cy="0"/>
          </a:xfrm>
          <a:prstGeom prst="straightConnector1">
            <a:avLst/>
          </a:prstGeom>
          <a:noFill/>
          <a:ln cap="flat" cmpd="sng" w="19050">
            <a:solidFill>
              <a:srgbClr val="E66262"/>
            </a:solidFill>
            <a:prstDash val="solid"/>
            <a:miter lim="8000"/>
            <a:headEnd len="sm" w="sm" type="none"/>
            <a:tailEnd len="sm" w="sm" type="none"/>
          </a:ln>
        </p:spPr>
      </p:cxnSp>
      <p:graphicFrame>
        <p:nvGraphicFramePr>
          <p:cNvPr id="113" name="Google Shape;113;p15"/>
          <p:cNvGraphicFramePr/>
          <p:nvPr/>
        </p:nvGraphicFramePr>
        <p:xfrm>
          <a:off x="5935150" y="3075925"/>
          <a:ext cx="3000000" cy="3000000"/>
        </p:xfrm>
        <a:graphic>
          <a:graphicData uri="http://schemas.openxmlformats.org/drawingml/2006/table">
            <a:tbl>
              <a:tblPr bandRow="1" firstRow="1">
                <a:noFill/>
                <a:tableStyleId>{C73AFDB9-C6B9-4630-96C2-FC3DD8BEF7E7}</a:tableStyleId>
              </a:tblPr>
              <a:tblGrid>
                <a:gridCol w="2709325"/>
                <a:gridCol w="2709325"/>
              </a:tblGrid>
              <a:tr h="370850">
                <a:tc>
                  <a:txBody>
                    <a:bodyPr/>
                    <a:lstStyle/>
                    <a:p>
                      <a:pPr indent="0" lvl="0" marL="0" marR="0" rtl="0" algn="l">
                        <a:spcBef>
                          <a:spcPts val="0"/>
                        </a:spcBef>
                        <a:spcAft>
                          <a:spcPts val="0"/>
                        </a:spcAft>
                        <a:buNone/>
                      </a:pPr>
                      <a:r>
                        <a:rPr lang="en-US" sz="1800"/>
                        <a:t>Inputs</a:t>
                      </a:r>
                      <a:endParaRPr/>
                    </a:p>
                  </a:txBody>
                  <a:tcPr marT="45725" marB="45725" marR="91450" marL="91450"/>
                </a:tc>
                <a:tc>
                  <a:txBody>
                    <a:bodyPr/>
                    <a:lstStyle/>
                    <a:p>
                      <a:pPr indent="0" lvl="0" marL="0" marR="0" rtl="0" algn="l">
                        <a:spcBef>
                          <a:spcPts val="0"/>
                        </a:spcBef>
                        <a:spcAft>
                          <a:spcPts val="0"/>
                        </a:spcAft>
                        <a:buNone/>
                      </a:pPr>
                      <a:r>
                        <a:rPr lang="en-US" sz="1800"/>
                        <a:t>Outputs</a:t>
                      </a:r>
                      <a:endParaRPr/>
                    </a:p>
                  </a:txBody>
                  <a:tcPr marT="45725" marB="45725" marR="91450" marL="91450"/>
                </a:tc>
              </a:tr>
              <a:tr h="370850">
                <a:tc>
                  <a:txBody>
                    <a:bodyPr/>
                    <a:lstStyle/>
                    <a:p>
                      <a:pPr indent="0" lvl="0" marL="0" marR="0" rtl="0" algn="l">
                        <a:spcBef>
                          <a:spcPts val="0"/>
                        </a:spcBef>
                        <a:spcAft>
                          <a:spcPts val="0"/>
                        </a:spcAft>
                        <a:buNone/>
                      </a:pPr>
                      <a:r>
                        <a:rPr lang="en-US" sz="1800"/>
                        <a:t>x position</a:t>
                      </a:r>
                      <a:endParaRPr/>
                    </a:p>
                  </a:txBody>
                  <a:tcPr marT="45725" marB="45725" marR="91450" marL="91450"/>
                </a:tc>
                <a:tc>
                  <a:txBody>
                    <a:bodyPr/>
                    <a:lstStyle/>
                    <a:p>
                      <a:pPr indent="0" lvl="0" marL="0" marR="0" rtl="0" algn="l">
                        <a:spcBef>
                          <a:spcPts val="0"/>
                        </a:spcBef>
                        <a:spcAft>
                          <a:spcPts val="0"/>
                        </a:spcAft>
                        <a:buNone/>
                      </a:pPr>
                      <a:r>
                        <a:rPr lang="en-US" sz="1800"/>
                        <a:t>do nothing </a:t>
                      </a:r>
                      <a:endParaRPr sz="1800"/>
                    </a:p>
                  </a:txBody>
                  <a:tcPr marT="45725" marB="45725" marR="91450" marL="91450"/>
                </a:tc>
              </a:tr>
              <a:tr h="370850">
                <a:tc>
                  <a:txBody>
                    <a:bodyPr/>
                    <a:lstStyle/>
                    <a:p>
                      <a:pPr indent="0" lvl="0" marL="0" marR="0" rtl="0" algn="l">
                        <a:spcBef>
                          <a:spcPts val="0"/>
                        </a:spcBef>
                        <a:spcAft>
                          <a:spcPts val="0"/>
                        </a:spcAft>
                        <a:buNone/>
                      </a:pPr>
                      <a:r>
                        <a:rPr lang="en-US" sz="1800"/>
                        <a:t>y position</a:t>
                      </a:r>
                      <a:endParaRPr/>
                    </a:p>
                  </a:txBody>
                  <a:tcPr marT="45725" marB="45725" marR="91450" marL="91450"/>
                </a:tc>
                <a:tc>
                  <a:txBody>
                    <a:bodyPr/>
                    <a:lstStyle/>
                    <a:p>
                      <a:pPr indent="0" lvl="0" marL="0" marR="0" rtl="0" algn="l">
                        <a:spcBef>
                          <a:spcPts val="0"/>
                        </a:spcBef>
                        <a:spcAft>
                          <a:spcPts val="0"/>
                        </a:spcAft>
                        <a:buNone/>
                      </a:pPr>
                      <a:r>
                        <a:rPr lang="en-US" sz="1800"/>
                        <a:t>fire left engine</a:t>
                      </a:r>
                      <a:endParaRPr sz="1800"/>
                    </a:p>
                  </a:txBody>
                  <a:tcPr marT="45725" marB="45725" marR="91450" marL="91450"/>
                </a:tc>
              </a:tr>
              <a:tr h="370850">
                <a:tc>
                  <a:txBody>
                    <a:bodyPr/>
                    <a:lstStyle/>
                    <a:p>
                      <a:pPr indent="0" lvl="0" marL="0" marR="0" rtl="0" algn="l">
                        <a:spcBef>
                          <a:spcPts val="0"/>
                        </a:spcBef>
                        <a:spcAft>
                          <a:spcPts val="0"/>
                        </a:spcAft>
                        <a:buNone/>
                      </a:pPr>
                      <a:r>
                        <a:rPr lang="en-US" sz="1800"/>
                        <a:t>x velocity</a:t>
                      </a:r>
                      <a:endParaRPr/>
                    </a:p>
                  </a:txBody>
                  <a:tcPr marT="45725" marB="45725" marR="91450" marL="91450"/>
                </a:tc>
                <a:tc>
                  <a:txBody>
                    <a:bodyPr/>
                    <a:lstStyle/>
                    <a:p>
                      <a:pPr indent="0" lvl="0" marL="0" marR="0" rtl="0" algn="l">
                        <a:spcBef>
                          <a:spcPts val="0"/>
                        </a:spcBef>
                        <a:spcAft>
                          <a:spcPts val="0"/>
                        </a:spcAft>
                        <a:buNone/>
                      </a:pPr>
                      <a:r>
                        <a:rPr lang="en-US" sz="1800"/>
                        <a:t>fire right engine</a:t>
                      </a:r>
                      <a:endParaRPr sz="1800"/>
                    </a:p>
                  </a:txBody>
                  <a:tcPr marT="45725" marB="45725" marR="91450" marL="91450"/>
                </a:tc>
              </a:tr>
              <a:tr h="370850">
                <a:tc>
                  <a:txBody>
                    <a:bodyPr/>
                    <a:lstStyle/>
                    <a:p>
                      <a:pPr indent="0" lvl="0" marL="0" marR="0" rtl="0" algn="l">
                        <a:spcBef>
                          <a:spcPts val="0"/>
                        </a:spcBef>
                        <a:spcAft>
                          <a:spcPts val="0"/>
                        </a:spcAft>
                        <a:buNone/>
                      </a:pPr>
                      <a:r>
                        <a:rPr lang="en-US" sz="1800"/>
                        <a:t>y velocity</a:t>
                      </a:r>
                      <a:endParaRPr/>
                    </a:p>
                  </a:txBody>
                  <a:tcPr marT="45725" marB="45725" marR="91450" marL="91450"/>
                </a:tc>
                <a:tc>
                  <a:txBody>
                    <a:bodyPr/>
                    <a:lstStyle/>
                    <a:p>
                      <a:pPr indent="0" lvl="0" marL="0" marR="0" rtl="0" algn="l">
                        <a:spcBef>
                          <a:spcPts val="0"/>
                        </a:spcBef>
                        <a:spcAft>
                          <a:spcPts val="0"/>
                        </a:spcAft>
                        <a:buNone/>
                      </a:pPr>
                      <a:r>
                        <a:rPr lang="en-US" sz="1800"/>
                        <a:t>fire main engine</a:t>
                      </a:r>
                      <a:endParaRPr sz="1800"/>
                    </a:p>
                  </a:txBody>
                  <a:tcPr marT="45725" marB="45725" marR="91450" marL="91450"/>
                </a:tc>
              </a:tr>
              <a:tr h="370850">
                <a:tc>
                  <a:txBody>
                    <a:bodyPr/>
                    <a:lstStyle/>
                    <a:p>
                      <a:pPr indent="0" lvl="0" marL="0" marR="0" rtl="0" algn="l">
                        <a:spcBef>
                          <a:spcPts val="0"/>
                        </a:spcBef>
                        <a:spcAft>
                          <a:spcPts val="0"/>
                        </a:spcAft>
                        <a:buNone/>
                      </a:pPr>
                      <a:r>
                        <a:rPr lang="en-US" sz="1800"/>
                        <a:t>angle</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800"/>
                        <a:t>angular velocity</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800"/>
                        <a:t>left leg touched (bool)</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800"/>
                        <a:t>right leg touched (bool)</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pic>
        <p:nvPicPr>
          <p:cNvPr id="114" name="Google Shape;114;p15"/>
          <p:cNvPicPr preferRelativeResize="0"/>
          <p:nvPr/>
        </p:nvPicPr>
        <p:blipFill>
          <a:blip r:embed="rId3">
            <a:alphaModFix/>
          </a:blip>
          <a:stretch>
            <a:fillRect/>
          </a:stretch>
        </p:blipFill>
        <p:spPr>
          <a:xfrm>
            <a:off x="2019776" y="3643126"/>
            <a:ext cx="3086625" cy="3086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Fitness Score</a:t>
            </a:r>
            <a:endParaRPr/>
          </a:p>
        </p:txBody>
      </p:sp>
      <p:sp>
        <p:nvSpPr>
          <p:cNvPr id="121" name="Google Shape;12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The sum of episode rewards as defined by the Lunar Lander documentation from Gymnasium.</a:t>
            </a:r>
            <a:endParaRPr/>
          </a:p>
        </p:txBody>
      </p:sp>
      <p:sp>
        <p:nvSpPr>
          <p:cNvPr id="122" name="Google Shape;122;p16"/>
          <p:cNvSpPr txBox="1"/>
          <p:nvPr/>
        </p:nvSpPr>
        <p:spPr>
          <a:xfrm>
            <a:off x="11742821" y="6563226"/>
            <a:ext cx="449179" cy="24622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AEAEAE"/>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cxnSp>
        <p:nvCxnSpPr>
          <p:cNvPr id="123" name="Google Shape;123;p16"/>
          <p:cNvCxnSpPr/>
          <p:nvPr/>
        </p:nvCxnSpPr>
        <p:spPr>
          <a:xfrm rot="10800000">
            <a:off x="636671" y="1540293"/>
            <a:ext cx="10918658" cy="0"/>
          </a:xfrm>
          <a:prstGeom prst="straightConnector1">
            <a:avLst/>
          </a:prstGeom>
          <a:noFill/>
          <a:ln cap="flat" cmpd="sng" w="19050">
            <a:solidFill>
              <a:srgbClr val="E66262"/>
            </a:solidFill>
            <a:prstDash val="solid"/>
            <a:miter lim="80"/>
            <a:headEnd len="sm" w="sm" type="none"/>
            <a:tailEnd len="sm" w="sm" type="none"/>
          </a:ln>
        </p:spPr>
      </p:cxnSp>
      <p:graphicFrame>
        <p:nvGraphicFramePr>
          <p:cNvPr id="124" name="Google Shape;124;p16"/>
          <p:cNvGraphicFramePr/>
          <p:nvPr/>
        </p:nvGraphicFramePr>
        <p:xfrm>
          <a:off x="2032000" y="2995655"/>
          <a:ext cx="3000000" cy="3000000"/>
        </p:xfrm>
        <a:graphic>
          <a:graphicData uri="http://schemas.openxmlformats.org/drawingml/2006/table">
            <a:tbl>
              <a:tblPr bandRow="1" firstRow="1">
                <a:noFill/>
                <a:tableStyleId>{79CD4309-65B2-41A8-967B-00DAE9558566}</a:tableStyleId>
              </a:tblPr>
              <a:tblGrid>
                <a:gridCol w="4064000"/>
                <a:gridCol w="406400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Reward Increases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Reward Decreases</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Closer to landing pad</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Further from landing pad</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Slower movement of lander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Faster movement of lander</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Non-horizontal tilt</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[+10] Contact of leg with ground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[-0.03/frame] Side engine firing</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[-0.3/frame] Main engine firing</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[+100] Safe landing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[-100] Crash</a:t>
                      </a:r>
                      <a:endParaRPr sz="1400" u="none" cap="none" strike="noStrike"/>
                    </a:p>
                  </a:txBody>
                  <a:tcPr marT="45725" marB="45725" marR="91450" marL="91450"/>
                </a:tc>
              </a:tr>
            </a:tbl>
          </a:graphicData>
        </a:graphic>
      </p:graphicFrame>
      <p:sp>
        <p:nvSpPr>
          <p:cNvPr id="125" name="Google Shape;125;p16"/>
          <p:cNvSpPr txBox="1"/>
          <p:nvPr/>
        </p:nvSpPr>
        <p:spPr>
          <a:xfrm>
            <a:off x="4170420" y="6611779"/>
            <a:ext cx="3851159"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sng" cap="none" strike="noStrike">
                <a:solidFill>
                  <a:schemeClr val="hlink"/>
                </a:solidFill>
                <a:latin typeface="Arial"/>
                <a:ea typeface="Arial"/>
                <a:cs typeface="Arial"/>
                <a:sym typeface="Arial"/>
                <a:hlinkClick r:id="rId3"/>
              </a:rPr>
              <a:t>https://gymnasium.farama.org/environments/box2d/lunar_lander/</a:t>
            </a:r>
            <a:r>
              <a:rPr b="0" i="0" lang="en-US" sz="1000" u="none" cap="none" strike="noStrike">
                <a:solidFill>
                  <a:srgbClr val="AEAEAE"/>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Overview of improvements</a:t>
            </a:r>
            <a:endParaRPr/>
          </a:p>
        </p:txBody>
      </p:sp>
      <p:sp>
        <p:nvSpPr>
          <p:cNvPr id="131" name="Google Shape;13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t> Hyperparameter Sweep</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Modified Function Nodes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Elitism</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Seeding</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Fitness Function Improvement</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Validation-Based Model Selection</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Coefficient Gating</a:t>
            </a:r>
            <a:endParaRPr/>
          </a:p>
        </p:txBody>
      </p:sp>
      <p:sp>
        <p:nvSpPr>
          <p:cNvPr id="132" name="Google Shape;132;p17"/>
          <p:cNvSpPr txBox="1"/>
          <p:nvPr/>
        </p:nvSpPr>
        <p:spPr>
          <a:xfrm>
            <a:off x="11742821" y="6563226"/>
            <a:ext cx="449179" cy="24622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AEAEAE"/>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cxnSp>
        <p:nvCxnSpPr>
          <p:cNvPr id="133" name="Google Shape;133;p17"/>
          <p:cNvCxnSpPr/>
          <p:nvPr/>
        </p:nvCxnSpPr>
        <p:spPr>
          <a:xfrm rot="10800000">
            <a:off x="636671" y="1540293"/>
            <a:ext cx="10918658" cy="0"/>
          </a:xfrm>
          <a:prstGeom prst="straightConnector1">
            <a:avLst/>
          </a:prstGeom>
          <a:noFill/>
          <a:ln cap="flat" cmpd="sng" w="19050">
            <a:solidFill>
              <a:srgbClr val="E66262"/>
            </a:solidFill>
            <a:prstDash val="solid"/>
            <a:miter lim="80"/>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Hyperparameter Sweep</a:t>
            </a:r>
            <a:endParaRPr/>
          </a:p>
        </p:txBody>
      </p:sp>
      <p:sp>
        <p:nvSpPr>
          <p:cNvPr id="140" name="Google Shape;140;p1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Retrieve near-optimal parameters for the baseline by an Optuna Tree-structured Parzen Estimator sampler sweep over 55 trials (35 generations, 8 episodes each).</a:t>
            </a:r>
            <a:endParaRPr/>
          </a:p>
          <a:p>
            <a:pPr indent="0" lvl="0" marL="0" rtl="0" algn="l">
              <a:lnSpc>
                <a:spcPct val="90000"/>
              </a:lnSpc>
              <a:spcBef>
                <a:spcPts val="1000"/>
              </a:spcBef>
              <a:spcAft>
                <a:spcPts val="0"/>
              </a:spcAft>
              <a:buClr>
                <a:schemeClr val="dk1"/>
              </a:buClr>
              <a:buSzPts val="2800"/>
              <a:buNone/>
            </a:pPr>
            <a:r>
              <a:t/>
            </a:r>
            <a:endParaRPr/>
          </a:p>
        </p:txBody>
      </p:sp>
      <p:sp>
        <p:nvSpPr>
          <p:cNvPr id="141" name="Google Shape;141;p18"/>
          <p:cNvSpPr txBox="1"/>
          <p:nvPr/>
        </p:nvSpPr>
        <p:spPr>
          <a:xfrm>
            <a:off x="11742821" y="6563226"/>
            <a:ext cx="449100" cy="246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AEAEAE"/>
                </a:solidFill>
                <a:latin typeface="Arial"/>
                <a:ea typeface="Arial"/>
                <a:cs typeface="Arial"/>
                <a:sym typeface="Arial"/>
              </a:rPr>
              <a:t>3</a:t>
            </a:r>
            <a:endParaRPr/>
          </a:p>
        </p:txBody>
      </p:sp>
      <p:cxnSp>
        <p:nvCxnSpPr>
          <p:cNvPr id="142" name="Google Shape;142;p18"/>
          <p:cNvCxnSpPr/>
          <p:nvPr/>
        </p:nvCxnSpPr>
        <p:spPr>
          <a:xfrm rot="10800000">
            <a:off x="636529" y="1540293"/>
            <a:ext cx="10918800" cy="0"/>
          </a:xfrm>
          <a:prstGeom prst="straightConnector1">
            <a:avLst/>
          </a:prstGeom>
          <a:noFill/>
          <a:ln cap="flat" cmpd="sng" w="19050">
            <a:solidFill>
              <a:srgbClr val="E66262"/>
            </a:solidFill>
            <a:prstDash val="solid"/>
            <a:miter lim="8000"/>
            <a:headEnd len="sm" w="sm" type="none"/>
            <a:tailEnd len="sm" w="sm" type="none"/>
          </a:ln>
        </p:spPr>
      </p:cxnSp>
      <p:graphicFrame>
        <p:nvGraphicFramePr>
          <p:cNvPr id="143" name="Google Shape;143;p18"/>
          <p:cNvGraphicFramePr/>
          <p:nvPr/>
        </p:nvGraphicFramePr>
        <p:xfrm>
          <a:off x="2032000" y="3429000"/>
          <a:ext cx="3000000" cy="3000000"/>
        </p:xfrm>
        <a:graphic>
          <a:graphicData uri="http://schemas.openxmlformats.org/drawingml/2006/table">
            <a:tbl>
              <a:tblPr bandRow="1" firstRow="1">
                <a:noFill/>
                <a:tableStyleId>{C73AFDB9-C6B9-4630-96C2-FC3DD8BEF7E7}</a:tableStyleId>
              </a:tblPr>
              <a:tblGrid>
                <a:gridCol w="2709325"/>
                <a:gridCol w="2709325"/>
                <a:gridCol w="2709325"/>
              </a:tblGrid>
              <a:tr h="370850">
                <a:tc>
                  <a:txBody>
                    <a:bodyPr/>
                    <a:lstStyle/>
                    <a:p>
                      <a:pPr indent="0" lvl="0" marL="0" marR="0" rtl="0" algn="l">
                        <a:spcBef>
                          <a:spcPts val="0"/>
                        </a:spcBef>
                        <a:spcAft>
                          <a:spcPts val="0"/>
                        </a:spcAft>
                        <a:buNone/>
                      </a:pPr>
                      <a:r>
                        <a:rPr lang="en-US" sz="1800"/>
                        <a:t>Parameter</a:t>
                      </a:r>
                      <a:endParaRPr/>
                    </a:p>
                  </a:txBody>
                  <a:tcPr marT="45725" marB="45725" marR="91450" marL="91450"/>
                </a:tc>
                <a:tc>
                  <a:txBody>
                    <a:bodyPr/>
                    <a:lstStyle/>
                    <a:p>
                      <a:pPr indent="0" lvl="0" marL="0" marR="0" rtl="0" algn="l">
                        <a:spcBef>
                          <a:spcPts val="0"/>
                        </a:spcBef>
                        <a:spcAft>
                          <a:spcPts val="0"/>
                        </a:spcAft>
                        <a:buNone/>
                      </a:pPr>
                      <a:r>
                        <a:rPr lang="en-US" sz="1800"/>
                        <a:t>Sweep Range</a:t>
                      </a:r>
                      <a:endParaRPr/>
                    </a:p>
                  </a:txBody>
                  <a:tcPr marT="45725" marB="45725" marR="91450" marL="91450"/>
                </a:tc>
                <a:tc>
                  <a:txBody>
                    <a:bodyPr/>
                    <a:lstStyle/>
                    <a:p>
                      <a:pPr indent="0" lvl="0" marL="0" marR="0" rtl="0" algn="l">
                        <a:spcBef>
                          <a:spcPts val="0"/>
                        </a:spcBef>
                        <a:spcAft>
                          <a:spcPts val="0"/>
                        </a:spcAft>
                        <a:buNone/>
                      </a:pPr>
                      <a:r>
                        <a:rPr lang="en-US" sz="1800"/>
                        <a:t>Best Value</a:t>
                      </a:r>
                      <a:endParaRPr/>
                    </a:p>
                  </a:txBody>
                  <a:tcPr marT="45725" marB="45725" marR="91450" marL="91450"/>
                </a:tc>
              </a:tr>
              <a:tr h="370850">
                <a:tc>
                  <a:txBody>
                    <a:bodyPr/>
                    <a:lstStyle/>
                    <a:p>
                      <a:pPr indent="0" lvl="0" marL="0" marR="0" rtl="0" algn="l">
                        <a:spcBef>
                          <a:spcPts val="0"/>
                        </a:spcBef>
                        <a:spcAft>
                          <a:spcPts val="0"/>
                        </a:spcAft>
                        <a:buNone/>
                      </a:pPr>
                      <a:r>
                        <a:rPr lang="en-US" sz="1800"/>
                        <a:t>Population Size</a:t>
                      </a:r>
                      <a:endParaRPr/>
                    </a:p>
                  </a:txBody>
                  <a:tcPr marT="45725" marB="45725" marR="91450" marL="91450"/>
                </a:tc>
                <a:tc>
                  <a:txBody>
                    <a:bodyPr/>
                    <a:lstStyle/>
                    <a:p>
                      <a:pPr indent="0" lvl="0" marL="0" marR="0" rtl="0" algn="l">
                        <a:spcBef>
                          <a:spcPts val="0"/>
                        </a:spcBef>
                        <a:spcAft>
                          <a:spcPts val="0"/>
                        </a:spcAft>
                        <a:buNone/>
                      </a:pPr>
                      <a:r>
                        <a:rPr lang="en-US" sz="1800"/>
                        <a:t>[16, </a:t>
                      </a:r>
                      <a:r>
                        <a:rPr lang="en-US" sz="1800"/>
                        <a:t>32, 64, 1</a:t>
                      </a:r>
                      <a:r>
                        <a:rPr lang="en-US" sz="1800"/>
                        <a:t>28]</a:t>
                      </a:r>
                      <a:endParaRPr sz="1800"/>
                    </a:p>
                  </a:txBody>
                  <a:tcPr marT="45725" marB="45725" marR="91450" marL="91450"/>
                </a:tc>
                <a:tc>
                  <a:txBody>
                    <a:bodyPr/>
                    <a:lstStyle/>
                    <a:p>
                      <a:pPr indent="0" lvl="0" marL="0" marR="0" rtl="0" algn="l">
                        <a:spcBef>
                          <a:spcPts val="0"/>
                        </a:spcBef>
                        <a:spcAft>
                          <a:spcPts val="0"/>
                        </a:spcAft>
                        <a:buNone/>
                      </a:pPr>
                      <a:r>
                        <a:rPr lang="en-US" sz="1800"/>
                        <a:t>128</a:t>
                      </a:r>
                      <a:endParaRPr sz="1800"/>
                    </a:p>
                  </a:txBody>
                  <a:tcPr marT="45725" marB="45725" marR="91450" marL="91450"/>
                </a:tc>
              </a:tr>
              <a:tr h="370850">
                <a:tc>
                  <a:txBody>
                    <a:bodyPr/>
                    <a:lstStyle/>
                    <a:p>
                      <a:pPr indent="0" lvl="0" marL="0" marR="0" rtl="0" algn="l">
                        <a:spcBef>
                          <a:spcPts val="0"/>
                        </a:spcBef>
                        <a:spcAft>
                          <a:spcPts val="0"/>
                        </a:spcAft>
                        <a:buNone/>
                      </a:pPr>
                      <a:r>
                        <a:rPr lang="en-US" sz="1800"/>
                        <a:t>Maximum Tree Size</a:t>
                      </a:r>
                      <a:endParaRPr/>
                    </a:p>
                  </a:txBody>
                  <a:tcPr marT="45725" marB="45725" marR="91450" marL="91450"/>
                </a:tc>
                <a:tc>
                  <a:txBody>
                    <a:bodyPr/>
                    <a:lstStyle/>
                    <a:p>
                      <a:pPr indent="0" lvl="0" marL="0" marR="0" rtl="0" algn="l">
                        <a:spcBef>
                          <a:spcPts val="0"/>
                        </a:spcBef>
                        <a:spcAft>
                          <a:spcPts val="0"/>
                        </a:spcAft>
                        <a:buNone/>
                      </a:pPr>
                      <a:r>
                        <a:rPr lang="en-US" sz="1800"/>
                        <a:t>[15,</a:t>
                      </a:r>
                      <a:r>
                        <a:rPr lang="en-US" sz="1800"/>
                        <a:t>31,6</a:t>
                      </a:r>
                      <a:r>
                        <a:rPr lang="en-US" sz="1800"/>
                        <a:t>3]</a:t>
                      </a:r>
                      <a:endParaRPr sz="1800"/>
                    </a:p>
                  </a:txBody>
                  <a:tcPr marT="45725" marB="45725" marR="91450" marL="91450"/>
                </a:tc>
                <a:tc>
                  <a:txBody>
                    <a:bodyPr/>
                    <a:lstStyle/>
                    <a:p>
                      <a:pPr indent="0" lvl="0" marL="0" marR="0" rtl="0" algn="l">
                        <a:spcBef>
                          <a:spcPts val="0"/>
                        </a:spcBef>
                        <a:spcAft>
                          <a:spcPts val="0"/>
                        </a:spcAft>
                        <a:buNone/>
                      </a:pPr>
                      <a:r>
                        <a:rPr lang="en-US" sz="1800"/>
                        <a:t>63</a:t>
                      </a:r>
                      <a:endParaRPr sz="1800"/>
                    </a:p>
                  </a:txBody>
                  <a:tcPr marT="45725" marB="45725" marR="91450" marL="91450"/>
                </a:tc>
              </a:tr>
              <a:tr h="370850">
                <a:tc>
                  <a:txBody>
                    <a:bodyPr/>
                    <a:lstStyle/>
                    <a:p>
                      <a:pPr indent="0" lvl="0" marL="0" marR="0" rtl="0" algn="l">
                        <a:spcBef>
                          <a:spcPts val="0"/>
                        </a:spcBef>
                        <a:spcAft>
                          <a:spcPts val="0"/>
                        </a:spcAft>
                        <a:buNone/>
                      </a:pPr>
                      <a:r>
                        <a:rPr lang="en-US" sz="1800"/>
                        <a:t>Number of Constants</a:t>
                      </a:r>
                      <a:endParaRPr/>
                    </a:p>
                  </a:txBody>
                  <a:tcPr marT="45725" marB="45725" marR="91450" marL="91450"/>
                </a:tc>
                <a:tc>
                  <a:txBody>
                    <a:bodyPr/>
                    <a:lstStyle/>
                    <a:p>
                      <a:pPr indent="0" lvl="0" marL="0" marR="0" rtl="0" algn="l">
                        <a:spcBef>
                          <a:spcPts val="0"/>
                        </a:spcBef>
                        <a:spcAft>
                          <a:spcPts val="0"/>
                        </a:spcAft>
                        <a:buNone/>
                      </a:pPr>
                      <a:r>
                        <a:rPr lang="en-US" sz="1800"/>
                        <a:t>1 – 5</a:t>
                      </a:r>
                      <a:endParaRPr sz="1800"/>
                    </a:p>
                  </a:txBody>
                  <a:tcPr marT="45725" marB="45725" marR="91450" marL="91450"/>
                </a:tc>
                <a:tc>
                  <a:txBody>
                    <a:bodyPr/>
                    <a:lstStyle/>
                    <a:p>
                      <a:pPr indent="0" lvl="0" marL="0" marR="0" rtl="0" algn="l">
                        <a:spcBef>
                          <a:spcPts val="0"/>
                        </a:spcBef>
                        <a:spcAft>
                          <a:spcPts val="0"/>
                        </a:spcAft>
                        <a:buNone/>
                      </a:pPr>
                      <a:r>
                        <a:rPr lang="en-US" sz="1800"/>
                        <a:t>2</a:t>
                      </a:r>
                      <a:endParaRPr sz="1800"/>
                    </a:p>
                  </a:txBody>
                  <a:tcPr marT="45725" marB="45725" marR="91450" marL="91450"/>
                </a:tc>
              </a:tr>
              <a:tr h="370850">
                <a:tc>
                  <a:txBody>
                    <a:bodyPr/>
                    <a:lstStyle/>
                    <a:p>
                      <a:pPr indent="0" lvl="0" marL="0" marR="0" rtl="0" algn="l">
                        <a:spcBef>
                          <a:spcPts val="0"/>
                        </a:spcBef>
                        <a:spcAft>
                          <a:spcPts val="0"/>
                        </a:spcAft>
                        <a:buNone/>
                      </a:pPr>
                      <a:r>
                        <a:rPr lang="en-US" sz="1800"/>
                        <a:t>Learning Rate Coefficient</a:t>
                      </a:r>
                      <a:endParaRPr/>
                    </a:p>
                  </a:txBody>
                  <a:tcPr marT="45725" marB="45725" marR="91450" marL="91450"/>
                </a:tc>
                <a:tc>
                  <a:txBody>
                    <a:bodyPr/>
                    <a:lstStyle/>
                    <a:p>
                      <a:pPr indent="0" lvl="0" marL="0" marR="0" rtl="0" algn="l">
                        <a:spcBef>
                          <a:spcPts val="0"/>
                        </a:spcBef>
                        <a:spcAft>
                          <a:spcPts val="0"/>
                        </a:spcAft>
                        <a:buNone/>
                      </a:pPr>
                      <a:r>
                        <a:rPr lang="en-US" sz="1800"/>
                        <a:t>1e-4 – 1e-2</a:t>
                      </a:r>
                      <a:endParaRPr sz="1800"/>
                    </a:p>
                  </a:txBody>
                  <a:tcPr marT="45725" marB="45725" marR="91450" marL="91450"/>
                </a:tc>
                <a:tc>
                  <a:txBody>
                    <a:bodyPr/>
                    <a:lstStyle/>
                    <a:p>
                      <a:pPr indent="0" lvl="0" marL="0" marR="0" rtl="0" algn="l">
                        <a:spcBef>
                          <a:spcPts val="0"/>
                        </a:spcBef>
                        <a:spcAft>
                          <a:spcPts val="0"/>
                        </a:spcAft>
                        <a:buNone/>
                      </a:pPr>
                      <a:r>
                        <a:rPr lang="en-US" sz="1800"/>
                        <a:t>1.69e-4</a:t>
                      </a:r>
                      <a:endParaRPr sz="1800"/>
                    </a:p>
                  </a:txBody>
                  <a:tcPr marT="45725" marB="45725" marR="91450" marL="91450"/>
                </a:tc>
              </a:tr>
              <a:tr h="370850">
                <a:tc>
                  <a:txBody>
                    <a:bodyPr/>
                    <a:lstStyle/>
                    <a:p>
                      <a:pPr indent="0" lvl="0" marL="0" marR="0" rtl="0" algn="l">
                        <a:spcBef>
                          <a:spcPts val="0"/>
                        </a:spcBef>
                        <a:spcAft>
                          <a:spcPts val="0"/>
                        </a:spcAft>
                        <a:buNone/>
                      </a:pPr>
                      <a:r>
                        <a:rPr lang="en-US" sz="1800"/>
                        <a:t>Gradient Update Steps</a:t>
                      </a:r>
                      <a:endParaRPr/>
                    </a:p>
                  </a:txBody>
                  <a:tcPr marT="45725" marB="45725" marR="91450" marL="91450"/>
                </a:tc>
                <a:tc>
                  <a:txBody>
                    <a:bodyPr/>
                    <a:lstStyle/>
                    <a:p>
                      <a:pPr indent="0" lvl="0" marL="0" marR="0" rtl="0" algn="l">
                        <a:spcBef>
                          <a:spcPts val="0"/>
                        </a:spcBef>
                        <a:spcAft>
                          <a:spcPts val="0"/>
                        </a:spcAft>
                        <a:buNone/>
                      </a:pPr>
                      <a:r>
                        <a:rPr lang="en-US" sz="1800"/>
                        <a:t>[250, 500, 1000]</a:t>
                      </a:r>
                      <a:endParaRPr sz="1800"/>
                    </a:p>
                  </a:txBody>
                  <a:tcPr marT="45725" marB="45725" marR="91450" marL="91450"/>
                </a:tc>
                <a:tc>
                  <a:txBody>
                    <a:bodyPr/>
                    <a:lstStyle/>
                    <a:p>
                      <a:pPr indent="0" lvl="0" marL="0" marR="0" rtl="0" algn="l">
                        <a:spcBef>
                          <a:spcPts val="0"/>
                        </a:spcBef>
                        <a:spcAft>
                          <a:spcPts val="0"/>
                        </a:spcAft>
                        <a:buNone/>
                      </a:pPr>
                      <a:r>
                        <a:rPr lang="en-US" sz="1800"/>
                        <a:t>250</a:t>
                      </a:r>
                      <a:endParaRPr sz="1800"/>
                    </a:p>
                  </a:txBody>
                  <a:tcPr marT="45725" marB="45725" marR="91450" marL="91450"/>
                </a:tc>
              </a:tr>
              <a:tr h="370850">
                <a:tc>
                  <a:txBody>
                    <a:bodyPr/>
                    <a:lstStyle/>
                    <a:p>
                      <a:pPr indent="0" lvl="0" marL="0" marR="0" rtl="0" algn="l">
                        <a:spcBef>
                          <a:spcPts val="0"/>
                        </a:spcBef>
                        <a:spcAft>
                          <a:spcPts val="0"/>
                        </a:spcAft>
                        <a:buNone/>
                      </a:pPr>
                      <a:r>
                        <a:rPr lang="en-US" sz="1800"/>
                        <a:t>Discount Factor</a:t>
                      </a:r>
                      <a:endParaRPr/>
                    </a:p>
                  </a:txBody>
                  <a:tcPr marT="45725" marB="45725" marR="91450" marL="91450"/>
                </a:tc>
                <a:tc>
                  <a:txBody>
                    <a:bodyPr/>
                    <a:lstStyle/>
                    <a:p>
                      <a:pPr indent="0" lvl="0" marL="0" marR="0" rtl="0" algn="l">
                        <a:spcBef>
                          <a:spcPts val="0"/>
                        </a:spcBef>
                        <a:spcAft>
                          <a:spcPts val="0"/>
                        </a:spcAft>
                        <a:buNone/>
                      </a:pPr>
                      <a:r>
                        <a:rPr lang="en-US" sz="1800"/>
                        <a:t>0.95 – 0.99</a:t>
                      </a:r>
                      <a:endParaRPr sz="1800"/>
                    </a:p>
                  </a:txBody>
                  <a:tcPr marT="45725" marB="45725" marR="91450" marL="91450"/>
                </a:tc>
                <a:tc>
                  <a:txBody>
                    <a:bodyPr/>
                    <a:lstStyle/>
                    <a:p>
                      <a:pPr indent="0" lvl="0" marL="0" marR="0" rtl="0" algn="l">
                        <a:spcBef>
                          <a:spcPts val="0"/>
                        </a:spcBef>
                        <a:spcAft>
                          <a:spcPts val="0"/>
                        </a:spcAft>
                        <a:buNone/>
                      </a:pPr>
                      <a:r>
                        <a:rPr lang="en-US" sz="1800"/>
                        <a:t>0.9796</a:t>
                      </a:r>
                      <a:endParaRPr sz="1800"/>
                    </a:p>
                  </a:txBody>
                  <a:tcPr marT="45725" marB="45725" marR="91450" marL="9145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Elitism</a:t>
            </a:r>
            <a:endParaRPr/>
          </a:p>
        </p:txBody>
      </p:sp>
      <p:sp>
        <p:nvSpPr>
          <p:cNvPr id="149" name="Google Shape;149;p19"/>
          <p:cNvSpPr txBox="1"/>
          <p:nvPr>
            <p:ph idx="1" type="body"/>
          </p:nvPr>
        </p:nvSpPr>
        <p:spPr>
          <a:xfrm>
            <a:off x="838200" y="1825626"/>
            <a:ext cx="10515600" cy="171400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The worst offspring in each generation is replaced with the single best individual across all generations so far. This ensures the algorithm can evolve around a region of good fitness, </a:t>
            </a:r>
            <a:r>
              <a:rPr lang="en-US">
                <a:solidFill>
                  <a:srgbClr val="E66262"/>
                </a:solidFill>
              </a:rPr>
              <a:t>eliminating degenerate attractors</a:t>
            </a:r>
            <a:r>
              <a:rPr lang="en-US"/>
              <a:t>.</a:t>
            </a:r>
            <a:endParaRPr/>
          </a:p>
        </p:txBody>
      </p:sp>
      <p:sp>
        <p:nvSpPr>
          <p:cNvPr id="150" name="Google Shape;150;p19"/>
          <p:cNvSpPr txBox="1"/>
          <p:nvPr/>
        </p:nvSpPr>
        <p:spPr>
          <a:xfrm>
            <a:off x="11742821" y="6563226"/>
            <a:ext cx="449179" cy="24622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AEAEAE"/>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cxnSp>
        <p:nvCxnSpPr>
          <p:cNvPr id="151" name="Google Shape;151;p19"/>
          <p:cNvCxnSpPr/>
          <p:nvPr/>
        </p:nvCxnSpPr>
        <p:spPr>
          <a:xfrm rot="10800000">
            <a:off x="636671" y="1540293"/>
            <a:ext cx="10918658" cy="0"/>
          </a:xfrm>
          <a:prstGeom prst="straightConnector1">
            <a:avLst/>
          </a:prstGeom>
          <a:noFill/>
          <a:ln cap="flat" cmpd="sng" w="19050">
            <a:solidFill>
              <a:srgbClr val="E66262"/>
            </a:solidFill>
            <a:prstDash val="solid"/>
            <a:miter lim="80"/>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Metrics</a:t>
            </a:r>
            <a:endParaRPr/>
          </a:p>
        </p:txBody>
      </p:sp>
      <p:sp>
        <p:nvSpPr>
          <p:cNvPr id="157" name="Google Shape;157;p20"/>
          <p:cNvSpPr txBox="1"/>
          <p:nvPr>
            <p:ph idx="1" type="body"/>
          </p:nvPr>
        </p:nvSpPr>
        <p:spPr>
          <a:xfrm>
            <a:off x="838200" y="1825626"/>
            <a:ext cx="10515600" cy="4842152"/>
          </a:xfrm>
          <a:prstGeom prst="rect">
            <a:avLst/>
          </a:prstGeom>
          <a:blipFill rotWithShape="1">
            <a:blip r:embed="rId3">
              <a:alphaModFix/>
            </a:blip>
            <a:stretch>
              <a:fillRect b="0" l="-1217" r="0" t="-2138"/>
            </a:stretch>
          </a:blipFill>
          <a:ln>
            <a:noFill/>
          </a:ln>
        </p:spPr>
        <p:txBody>
          <a:bodyPr anchorCtr="0" anchor="t" bIns="45700" lIns="91425" spcFirstLastPara="1" rIns="91425" wrap="square" tIns="45700">
            <a:normAutofit/>
          </a:bodyPr>
          <a:lstStyle/>
          <a:p>
            <a:pPr indent="0" lvl="0" marL="457200" rtl="0" algn="l">
              <a:lnSpc>
                <a:spcPct val="90000"/>
              </a:lnSpc>
              <a:spcBef>
                <a:spcPts val="0"/>
              </a:spcBef>
              <a:spcAft>
                <a:spcPts val="0"/>
              </a:spcAft>
              <a:buNone/>
            </a:pPr>
            <a:r>
              <a:rPr lang="en-US"/>
              <a:t> </a:t>
            </a:r>
            <a:endParaRPr/>
          </a:p>
        </p:txBody>
      </p:sp>
      <p:sp>
        <p:nvSpPr>
          <p:cNvPr id="158" name="Google Shape;158;p20"/>
          <p:cNvSpPr txBox="1"/>
          <p:nvPr/>
        </p:nvSpPr>
        <p:spPr>
          <a:xfrm>
            <a:off x="11742821" y="6563226"/>
            <a:ext cx="449179" cy="24622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AEAEAE"/>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159" name="Google Shape;159;p20"/>
          <p:cNvCxnSpPr/>
          <p:nvPr/>
        </p:nvCxnSpPr>
        <p:spPr>
          <a:xfrm rot="10800000">
            <a:off x="636671" y="1540293"/>
            <a:ext cx="10918658" cy="0"/>
          </a:xfrm>
          <a:prstGeom prst="straightConnector1">
            <a:avLst/>
          </a:prstGeom>
          <a:noFill/>
          <a:ln cap="flat" cmpd="sng" w="19050">
            <a:solidFill>
              <a:srgbClr val="E66262"/>
            </a:solidFill>
            <a:prstDash val="solid"/>
            <a:miter lim="80"/>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Revised Baseline Run</a:t>
            </a:r>
            <a:endParaRPr/>
          </a:p>
        </p:txBody>
      </p:sp>
      <p:sp>
        <p:nvSpPr>
          <p:cNvPr id="166" name="Google Shape;166;p21"/>
          <p:cNvSpPr txBox="1"/>
          <p:nvPr/>
        </p:nvSpPr>
        <p:spPr>
          <a:xfrm>
            <a:off x="11742821" y="6563226"/>
            <a:ext cx="449179" cy="24622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AEAEAE"/>
                </a:solidFill>
                <a:latin typeface="Arial"/>
                <a:ea typeface="Arial"/>
                <a:cs typeface="Arial"/>
                <a:sym typeface="Arial"/>
              </a:rPr>
              <a:t>7</a:t>
            </a:r>
            <a:endParaRPr b="0" i="0" sz="1400" u="none" cap="none" strike="noStrike">
              <a:solidFill>
                <a:srgbClr val="000000"/>
              </a:solidFill>
              <a:latin typeface="Arial"/>
              <a:ea typeface="Arial"/>
              <a:cs typeface="Arial"/>
              <a:sym typeface="Arial"/>
            </a:endParaRPr>
          </a:p>
        </p:txBody>
      </p:sp>
      <p:cxnSp>
        <p:nvCxnSpPr>
          <p:cNvPr id="167" name="Google Shape;167;p21"/>
          <p:cNvCxnSpPr/>
          <p:nvPr/>
        </p:nvCxnSpPr>
        <p:spPr>
          <a:xfrm rot="10800000">
            <a:off x="636671" y="1540293"/>
            <a:ext cx="10918658" cy="0"/>
          </a:xfrm>
          <a:prstGeom prst="straightConnector1">
            <a:avLst/>
          </a:prstGeom>
          <a:noFill/>
          <a:ln cap="flat" cmpd="sng" w="19050">
            <a:solidFill>
              <a:srgbClr val="E66262"/>
            </a:solidFill>
            <a:prstDash val="solid"/>
            <a:miter lim="80"/>
            <a:headEnd len="sm" w="sm" type="none"/>
            <a:tailEnd len="sm" w="sm" type="none"/>
          </a:ln>
        </p:spPr>
      </p:cxnSp>
      <p:pic>
        <p:nvPicPr>
          <p:cNvPr descr="01_fitness.png" id="168" name="Google Shape;168;p21"/>
          <p:cNvPicPr preferRelativeResize="0"/>
          <p:nvPr/>
        </p:nvPicPr>
        <p:blipFill rotWithShape="1">
          <a:blip r:embed="rId3">
            <a:alphaModFix/>
          </a:blip>
          <a:srcRect b="0" l="0" r="0" t="0"/>
          <a:stretch/>
        </p:blipFill>
        <p:spPr>
          <a:xfrm>
            <a:off x="1108028" y="1692179"/>
            <a:ext cx="4416774" cy="2347353"/>
          </a:xfrm>
          <a:prstGeom prst="rect">
            <a:avLst/>
          </a:prstGeom>
          <a:noFill/>
          <a:ln>
            <a:noFill/>
          </a:ln>
        </p:spPr>
      </p:pic>
      <p:pic>
        <p:nvPicPr>
          <p:cNvPr descr="02_survival_rate.png" id="169" name="Google Shape;169;p21"/>
          <p:cNvPicPr preferRelativeResize="0"/>
          <p:nvPr/>
        </p:nvPicPr>
        <p:blipFill rotWithShape="1">
          <a:blip r:embed="rId4">
            <a:alphaModFix/>
          </a:blip>
          <a:srcRect b="0" l="0" r="0" t="0"/>
          <a:stretch/>
        </p:blipFill>
        <p:spPr>
          <a:xfrm>
            <a:off x="6383001" y="1692176"/>
            <a:ext cx="4289539" cy="2347359"/>
          </a:xfrm>
          <a:prstGeom prst="rect">
            <a:avLst/>
          </a:prstGeom>
          <a:noFill/>
          <a:ln>
            <a:noFill/>
          </a:ln>
        </p:spPr>
      </p:pic>
      <p:pic>
        <p:nvPicPr>
          <p:cNvPr descr="06_test_episode_scores.png" id="170" name="Google Shape;170;p21"/>
          <p:cNvPicPr preferRelativeResize="0"/>
          <p:nvPr/>
        </p:nvPicPr>
        <p:blipFill rotWithShape="1">
          <a:blip r:embed="rId5">
            <a:alphaModFix/>
          </a:blip>
          <a:srcRect b="0" l="0" r="0" t="0"/>
          <a:stretch/>
        </p:blipFill>
        <p:spPr>
          <a:xfrm>
            <a:off x="6319383" y="4106274"/>
            <a:ext cx="4416773" cy="2519475"/>
          </a:xfrm>
          <a:prstGeom prst="rect">
            <a:avLst/>
          </a:prstGeom>
          <a:noFill/>
          <a:ln>
            <a:noFill/>
          </a:ln>
        </p:spPr>
      </p:pic>
      <p:pic>
        <p:nvPicPr>
          <p:cNvPr descr="03_std_performance.png" id="171" name="Google Shape;171;p21"/>
          <p:cNvPicPr preferRelativeResize="0"/>
          <p:nvPr/>
        </p:nvPicPr>
        <p:blipFill rotWithShape="1">
          <a:blip r:embed="rId6">
            <a:alphaModFix/>
          </a:blip>
          <a:srcRect b="0" l="0" r="0" t="0"/>
          <a:stretch/>
        </p:blipFill>
        <p:spPr>
          <a:xfrm>
            <a:off x="1108028" y="4106277"/>
            <a:ext cx="4590909" cy="234735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Revised Baseline Run</a:t>
            </a:r>
            <a:endParaRPr/>
          </a:p>
        </p:txBody>
      </p:sp>
      <p:sp>
        <p:nvSpPr>
          <p:cNvPr id="178" name="Google Shape;178;p22"/>
          <p:cNvSpPr txBox="1"/>
          <p:nvPr/>
        </p:nvSpPr>
        <p:spPr>
          <a:xfrm>
            <a:off x="11742821" y="6563226"/>
            <a:ext cx="449100" cy="246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AEAEAE"/>
                </a:solidFill>
                <a:latin typeface="Arial"/>
                <a:ea typeface="Arial"/>
                <a:cs typeface="Arial"/>
                <a:sym typeface="Arial"/>
              </a:rPr>
              <a:t>7</a:t>
            </a:r>
            <a:endParaRPr b="0" i="0" sz="1400" u="none" cap="none" strike="noStrike">
              <a:solidFill>
                <a:srgbClr val="000000"/>
              </a:solidFill>
              <a:latin typeface="Arial"/>
              <a:ea typeface="Arial"/>
              <a:cs typeface="Arial"/>
              <a:sym typeface="Arial"/>
            </a:endParaRPr>
          </a:p>
        </p:txBody>
      </p:sp>
      <p:cxnSp>
        <p:nvCxnSpPr>
          <p:cNvPr id="179" name="Google Shape;179;p22"/>
          <p:cNvCxnSpPr/>
          <p:nvPr/>
        </p:nvCxnSpPr>
        <p:spPr>
          <a:xfrm rot="10800000">
            <a:off x="636529" y="1540293"/>
            <a:ext cx="10918800" cy="0"/>
          </a:xfrm>
          <a:prstGeom prst="straightConnector1">
            <a:avLst/>
          </a:prstGeom>
          <a:noFill/>
          <a:ln cap="flat" cmpd="sng" w="19050">
            <a:solidFill>
              <a:srgbClr val="E66262"/>
            </a:solidFill>
            <a:prstDash val="solid"/>
            <a:miter lim="80"/>
            <a:headEnd len="sm" w="sm" type="none"/>
            <a:tailEnd len="sm" w="sm" type="none"/>
          </a:ln>
        </p:spPr>
      </p:cxnSp>
      <p:pic>
        <p:nvPicPr>
          <p:cNvPr id="180" name="Google Shape;180;p22" title="03_performance_spread_per_generation.png"/>
          <p:cNvPicPr preferRelativeResize="0"/>
          <p:nvPr/>
        </p:nvPicPr>
        <p:blipFill>
          <a:blip r:embed="rId3">
            <a:alphaModFix/>
          </a:blip>
          <a:stretch>
            <a:fillRect/>
          </a:stretch>
        </p:blipFill>
        <p:spPr>
          <a:xfrm>
            <a:off x="1434788" y="4129286"/>
            <a:ext cx="4208492" cy="2367137"/>
          </a:xfrm>
          <a:prstGeom prst="rect">
            <a:avLst/>
          </a:prstGeom>
          <a:noFill/>
          <a:ln>
            <a:noFill/>
          </a:ln>
        </p:spPr>
      </p:pic>
      <p:pic>
        <p:nvPicPr>
          <p:cNvPr id="181" name="Google Shape;181;p22" title="02_survival_rate_per_generation.png"/>
          <p:cNvPicPr preferRelativeResize="0"/>
          <p:nvPr/>
        </p:nvPicPr>
        <p:blipFill>
          <a:blip r:embed="rId4">
            <a:alphaModFix/>
          </a:blip>
          <a:stretch>
            <a:fillRect/>
          </a:stretch>
        </p:blipFill>
        <p:spPr>
          <a:xfrm>
            <a:off x="6242742" y="1649575"/>
            <a:ext cx="4171724" cy="2346456"/>
          </a:xfrm>
          <a:prstGeom prst="rect">
            <a:avLst/>
          </a:prstGeom>
          <a:noFill/>
          <a:ln>
            <a:noFill/>
          </a:ln>
        </p:spPr>
      </p:pic>
      <p:pic>
        <p:nvPicPr>
          <p:cNvPr id="182" name="Google Shape;182;p22" title="01_fitness_per_generation.png"/>
          <p:cNvPicPr preferRelativeResize="0"/>
          <p:nvPr/>
        </p:nvPicPr>
        <p:blipFill>
          <a:blip r:embed="rId5">
            <a:alphaModFix/>
          </a:blip>
          <a:stretch>
            <a:fillRect/>
          </a:stretch>
        </p:blipFill>
        <p:spPr>
          <a:xfrm>
            <a:off x="1568893" y="1649575"/>
            <a:ext cx="4208468" cy="2367137"/>
          </a:xfrm>
          <a:prstGeom prst="rect">
            <a:avLst/>
          </a:prstGeom>
          <a:noFill/>
          <a:ln>
            <a:noFill/>
          </a:ln>
        </p:spPr>
      </p:pic>
      <p:pic>
        <p:nvPicPr>
          <p:cNvPr id="183" name="Google Shape;183;p22" title="04_final_test_episode_scores.png"/>
          <p:cNvPicPr preferRelativeResize="0"/>
          <p:nvPr/>
        </p:nvPicPr>
        <p:blipFill>
          <a:blip r:embed="rId6">
            <a:alphaModFix/>
          </a:blip>
          <a:stretch>
            <a:fillRect/>
          </a:stretch>
        </p:blipFill>
        <p:spPr>
          <a:xfrm>
            <a:off x="5899976" y="4108590"/>
            <a:ext cx="4857088" cy="245463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Fitness Function Improvements</a:t>
            </a:r>
            <a:endParaRPr/>
          </a:p>
        </p:txBody>
      </p:sp>
      <p:sp>
        <p:nvSpPr>
          <p:cNvPr id="190" name="Google Shape;190;p23"/>
          <p:cNvSpPr txBox="1"/>
          <p:nvPr>
            <p:ph idx="1" type="body"/>
          </p:nvPr>
        </p:nvSpPr>
        <p:spPr>
          <a:xfrm>
            <a:off x="838200" y="1825626"/>
            <a:ext cx="10515600" cy="1713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Three penalties are added:</a:t>
            </a:r>
            <a:endParaRPr/>
          </a:p>
          <a:p>
            <a:pPr indent="0" lvl="1" marL="457200" rtl="0" algn="l">
              <a:lnSpc>
                <a:spcPct val="90000"/>
              </a:lnSpc>
              <a:spcBef>
                <a:spcPts val="500"/>
              </a:spcBef>
              <a:spcAft>
                <a:spcPts val="0"/>
              </a:spcAft>
              <a:buClr>
                <a:schemeClr val="dk1"/>
              </a:buClr>
              <a:buSzPts val="2400"/>
              <a:buNone/>
            </a:pPr>
            <a:r>
              <a:rPr lang="en-US">
                <a:latin typeface="Courier New"/>
                <a:ea typeface="Courier New"/>
                <a:cs typeface="Courier New"/>
                <a:sym typeface="Courier New"/>
              </a:rPr>
              <a:t>1. CRASH_PENALTY</a:t>
            </a:r>
            <a:endParaRPr/>
          </a:p>
        </p:txBody>
      </p:sp>
      <p:sp>
        <p:nvSpPr>
          <p:cNvPr id="191" name="Google Shape;191;p23"/>
          <p:cNvSpPr txBox="1"/>
          <p:nvPr/>
        </p:nvSpPr>
        <p:spPr>
          <a:xfrm>
            <a:off x="11742821" y="6563226"/>
            <a:ext cx="449100" cy="246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AEAEAE"/>
              </a:buClr>
              <a:buSzPts val="1000"/>
              <a:buFont typeface="Arial"/>
              <a:buNone/>
            </a:pPr>
            <a:r>
              <a:rPr b="0" i="0" lang="en-US" sz="1000" u="none" cap="none" strike="noStrike">
                <a:solidFill>
                  <a:srgbClr val="AEAEAE"/>
                </a:solidFill>
                <a:latin typeface="Arial"/>
                <a:ea typeface="Arial"/>
                <a:cs typeface="Arial"/>
                <a:sym typeface="Arial"/>
              </a:rPr>
              <a:t>8</a:t>
            </a:r>
            <a:endParaRPr b="0" i="0" sz="1800" u="none" cap="none" strike="noStrike">
              <a:solidFill>
                <a:schemeClr val="dk1"/>
              </a:solidFill>
              <a:latin typeface="Arial"/>
              <a:ea typeface="Arial"/>
              <a:cs typeface="Arial"/>
              <a:sym typeface="Arial"/>
            </a:endParaRPr>
          </a:p>
        </p:txBody>
      </p:sp>
      <p:cxnSp>
        <p:nvCxnSpPr>
          <p:cNvPr id="192" name="Google Shape;192;p23"/>
          <p:cNvCxnSpPr/>
          <p:nvPr/>
        </p:nvCxnSpPr>
        <p:spPr>
          <a:xfrm rot="10800000">
            <a:off x="636529" y="1540293"/>
            <a:ext cx="10918800" cy="0"/>
          </a:xfrm>
          <a:prstGeom prst="straightConnector1">
            <a:avLst/>
          </a:prstGeom>
          <a:noFill/>
          <a:ln cap="flat" cmpd="sng" w="19050">
            <a:solidFill>
              <a:srgbClr val="E66262"/>
            </a:solidFill>
            <a:prstDash val="solid"/>
            <a:miter lim="0"/>
            <a:headEnd len="sm" w="sm" type="none"/>
            <a:tailEnd len="sm" w="sm" type="none"/>
          </a:ln>
        </p:spPr>
      </p:cxnSp>
      <p:sp>
        <p:nvSpPr>
          <p:cNvPr id="193" name="Google Shape;193;p23"/>
          <p:cNvSpPr txBox="1"/>
          <p:nvPr/>
        </p:nvSpPr>
        <p:spPr>
          <a:xfrm>
            <a:off x="934423" y="3429000"/>
            <a:ext cx="102852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A weight of 10.0 is multiplied with the number of crashed episodes and subtracted from the overall fitness. This was added on top of the scores assigned by the base lunar lander.</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Fitness Function Improvements</a:t>
            </a:r>
            <a:endParaRPr/>
          </a:p>
        </p:txBody>
      </p:sp>
      <p:sp>
        <p:nvSpPr>
          <p:cNvPr id="200" name="Google Shape;200;p24"/>
          <p:cNvSpPr txBox="1"/>
          <p:nvPr>
            <p:ph idx="1" type="body"/>
          </p:nvPr>
        </p:nvSpPr>
        <p:spPr>
          <a:xfrm>
            <a:off x="838200" y="1825626"/>
            <a:ext cx="10515600" cy="1713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Three penalties are added:</a:t>
            </a:r>
            <a:endParaRPr/>
          </a:p>
          <a:p>
            <a:pPr indent="0" lvl="1" marL="457200" rtl="0" algn="l">
              <a:lnSpc>
                <a:spcPct val="90000"/>
              </a:lnSpc>
              <a:spcBef>
                <a:spcPts val="500"/>
              </a:spcBef>
              <a:spcAft>
                <a:spcPts val="0"/>
              </a:spcAft>
              <a:buClr>
                <a:schemeClr val="dk1"/>
              </a:buClr>
              <a:buSzPts val="2400"/>
              <a:buNone/>
            </a:pPr>
            <a:r>
              <a:rPr lang="en-US">
                <a:latin typeface="Courier New"/>
                <a:ea typeface="Courier New"/>
                <a:cs typeface="Courier New"/>
                <a:sym typeface="Courier New"/>
              </a:rPr>
              <a:t>2. PARSIMONY</a:t>
            </a:r>
            <a:endParaRPr/>
          </a:p>
        </p:txBody>
      </p:sp>
      <p:sp>
        <p:nvSpPr>
          <p:cNvPr id="201" name="Google Shape;201;p24"/>
          <p:cNvSpPr txBox="1"/>
          <p:nvPr/>
        </p:nvSpPr>
        <p:spPr>
          <a:xfrm>
            <a:off x="11742821" y="6563226"/>
            <a:ext cx="449100" cy="246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AEAEAE"/>
              </a:buClr>
              <a:buSzPts val="1000"/>
              <a:buFont typeface="Arial"/>
              <a:buNone/>
            </a:pPr>
            <a:r>
              <a:rPr b="0" i="0" lang="en-US" sz="1000" u="none" cap="none" strike="noStrike">
                <a:solidFill>
                  <a:srgbClr val="AEAEAE"/>
                </a:solidFill>
                <a:latin typeface="Arial"/>
                <a:ea typeface="Arial"/>
                <a:cs typeface="Arial"/>
                <a:sym typeface="Arial"/>
              </a:rPr>
              <a:t>9</a:t>
            </a:r>
            <a:endParaRPr b="0" i="0" sz="1800" u="none" cap="none" strike="noStrike">
              <a:solidFill>
                <a:schemeClr val="dk1"/>
              </a:solidFill>
              <a:latin typeface="Arial"/>
              <a:ea typeface="Arial"/>
              <a:cs typeface="Arial"/>
              <a:sym typeface="Arial"/>
            </a:endParaRPr>
          </a:p>
        </p:txBody>
      </p:sp>
      <p:cxnSp>
        <p:nvCxnSpPr>
          <p:cNvPr id="202" name="Google Shape;202;p24"/>
          <p:cNvCxnSpPr/>
          <p:nvPr/>
        </p:nvCxnSpPr>
        <p:spPr>
          <a:xfrm rot="10800000">
            <a:off x="636529" y="1540293"/>
            <a:ext cx="10918800" cy="0"/>
          </a:xfrm>
          <a:prstGeom prst="straightConnector1">
            <a:avLst/>
          </a:prstGeom>
          <a:noFill/>
          <a:ln cap="flat" cmpd="sng" w="19050">
            <a:solidFill>
              <a:srgbClr val="E66262"/>
            </a:solidFill>
            <a:prstDash val="solid"/>
            <a:miter lim="0"/>
            <a:headEnd len="sm" w="sm" type="none"/>
            <a:tailEnd len="sm" w="sm" type="none"/>
          </a:ln>
        </p:spPr>
      </p:cxnSp>
      <p:sp>
        <p:nvSpPr>
          <p:cNvPr id="203" name="Google Shape;203;p24"/>
          <p:cNvSpPr txBox="1"/>
          <p:nvPr/>
        </p:nvSpPr>
        <p:spPr>
          <a:xfrm>
            <a:off x="934423" y="3429000"/>
            <a:ext cx="102852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A small penalty </a:t>
            </a:r>
            <a:r>
              <a:rPr b="0" i="0" lang="en-US" sz="2800" u="none" cap="none" strike="noStrike">
                <a:solidFill>
                  <a:schemeClr val="dk1"/>
                </a:solidFill>
                <a:latin typeface="Arial"/>
                <a:ea typeface="Arial"/>
                <a:cs typeface="Arial"/>
                <a:sym typeface="Arial"/>
              </a:rPr>
              <a:t>of 0</a:t>
            </a:r>
            <a:r>
              <a:rPr lang="en-US" sz="2800">
                <a:solidFill>
                  <a:schemeClr val="dk1"/>
                </a:solidFill>
              </a:rPr>
              <a:t>.02 </a:t>
            </a:r>
            <a:r>
              <a:rPr b="0" i="0" lang="en-US" sz="2800" u="none" cap="none" strike="noStrike">
                <a:solidFill>
                  <a:schemeClr val="dk1"/>
                </a:solidFill>
                <a:latin typeface="Arial"/>
                <a:ea typeface="Arial"/>
                <a:cs typeface="Arial"/>
                <a:sym typeface="Arial"/>
              </a:rPr>
              <a:t>to the fitness was given based on the size of the tree. This is to enforce the model to prefer smaller, more explainable models if no functionality was lost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Fitness Function Improvements</a:t>
            </a:r>
            <a:endParaRPr/>
          </a:p>
        </p:txBody>
      </p:sp>
      <p:sp>
        <p:nvSpPr>
          <p:cNvPr id="210" name="Google Shape;210;p25"/>
          <p:cNvSpPr txBox="1"/>
          <p:nvPr>
            <p:ph idx="1" type="body"/>
          </p:nvPr>
        </p:nvSpPr>
        <p:spPr>
          <a:xfrm>
            <a:off x="838200" y="1825626"/>
            <a:ext cx="10515600" cy="104023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Three penalties are added:</a:t>
            </a:r>
            <a:endParaRPr/>
          </a:p>
          <a:p>
            <a:pPr indent="0" lvl="1" marL="457200" rtl="0" algn="l">
              <a:lnSpc>
                <a:spcPct val="90000"/>
              </a:lnSpc>
              <a:spcBef>
                <a:spcPts val="500"/>
              </a:spcBef>
              <a:spcAft>
                <a:spcPts val="0"/>
              </a:spcAft>
              <a:buClr>
                <a:schemeClr val="dk1"/>
              </a:buClr>
              <a:buSzPts val="2400"/>
              <a:buNone/>
            </a:pPr>
            <a:r>
              <a:rPr lang="en-US">
                <a:latin typeface="Courier New"/>
                <a:ea typeface="Courier New"/>
                <a:cs typeface="Courier New"/>
                <a:sym typeface="Courier New"/>
              </a:rPr>
              <a:t>3. TIME_PRESSURE</a:t>
            </a:r>
            <a:endParaRPr/>
          </a:p>
        </p:txBody>
      </p:sp>
      <p:sp>
        <p:nvSpPr>
          <p:cNvPr id="211" name="Google Shape;211;p25"/>
          <p:cNvSpPr txBox="1"/>
          <p:nvPr/>
        </p:nvSpPr>
        <p:spPr>
          <a:xfrm>
            <a:off x="11742821" y="6563226"/>
            <a:ext cx="449179" cy="24622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AEAEAE"/>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cxnSp>
        <p:nvCxnSpPr>
          <p:cNvPr id="212" name="Google Shape;212;p25"/>
          <p:cNvCxnSpPr/>
          <p:nvPr/>
        </p:nvCxnSpPr>
        <p:spPr>
          <a:xfrm rot="10800000">
            <a:off x="636671" y="1540293"/>
            <a:ext cx="10918658" cy="0"/>
          </a:xfrm>
          <a:prstGeom prst="straightConnector1">
            <a:avLst/>
          </a:prstGeom>
          <a:noFill/>
          <a:ln cap="flat" cmpd="sng" w="19050">
            <a:solidFill>
              <a:srgbClr val="E66262"/>
            </a:solidFill>
            <a:prstDash val="solid"/>
            <a:miter lim="80"/>
            <a:headEnd len="sm" w="sm" type="none"/>
            <a:tailEnd len="sm" w="sm" type="none"/>
          </a:ln>
        </p:spPr>
      </p:cxnSp>
      <p:sp>
        <p:nvSpPr>
          <p:cNvPr id="213" name="Google Shape;213;p25"/>
          <p:cNvSpPr txBox="1"/>
          <p:nvPr/>
        </p:nvSpPr>
        <p:spPr>
          <a:xfrm>
            <a:off x="934423" y="3429000"/>
            <a:ext cx="10285332"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A time weight of 0.01 is multiplied to the length of the episode and subtracted from the overall fitness. This is to </a:t>
            </a:r>
            <a:r>
              <a:rPr b="0" i="0" lang="en-US" sz="2800" u="none" cap="none" strike="noStrike">
                <a:solidFill>
                  <a:srgbClr val="E66262"/>
                </a:solidFill>
                <a:latin typeface="Arial"/>
                <a:ea typeface="Arial"/>
                <a:cs typeface="Arial"/>
                <a:sym typeface="Arial"/>
              </a:rPr>
              <a:t>eliminate hovering without landing</a:t>
            </a:r>
            <a:r>
              <a:rPr b="0" i="0" lang="en-US" sz="2800" u="none" cap="none" strike="noStrike">
                <a:solidFill>
                  <a:schemeClr val="dk1"/>
                </a:solidFill>
                <a:latin typeface="Arial"/>
                <a:ea typeface="Arial"/>
                <a:cs typeface="Arial"/>
                <a:sym typeface="Arial"/>
              </a:rPr>
              <a:t> and is enabled on all runs.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Validation-Based Model Selection</a:t>
            </a:r>
            <a:endParaRPr/>
          </a:p>
        </p:txBody>
      </p:sp>
      <p:sp>
        <p:nvSpPr>
          <p:cNvPr id="220" name="Google Shape;220;p26"/>
          <p:cNvSpPr txBox="1"/>
          <p:nvPr>
            <p:ph idx="1" type="body"/>
          </p:nvPr>
        </p:nvSpPr>
        <p:spPr>
          <a:xfrm>
            <a:off x="838200" y="1825625"/>
            <a:ext cx="10515600" cy="2299187"/>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Clr>
                <a:schemeClr val="dk1"/>
              </a:buClr>
              <a:buSzPts val="2800"/>
              <a:buNone/>
            </a:pPr>
            <a:r>
              <a:rPr lang="en-US"/>
              <a:t>To </a:t>
            </a:r>
            <a:r>
              <a:rPr lang="en-US">
                <a:solidFill>
                  <a:srgbClr val="E66262"/>
                </a:solidFill>
              </a:rPr>
              <a:t>prevent overfitting of the model to the training seeds</a:t>
            </a:r>
            <a:r>
              <a:rPr lang="en-US"/>
              <a:t>, the top four individuals were further evaluated on 10 validation episodes per generation. The final model is chosen as the one with the best validation score across all generations.</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221" name="Google Shape;221;p26"/>
          <p:cNvSpPr txBox="1"/>
          <p:nvPr/>
        </p:nvSpPr>
        <p:spPr>
          <a:xfrm>
            <a:off x="11742821" y="6563226"/>
            <a:ext cx="449179" cy="24622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AEAEAE"/>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cxnSp>
        <p:nvCxnSpPr>
          <p:cNvPr id="222" name="Google Shape;222;p26"/>
          <p:cNvCxnSpPr/>
          <p:nvPr/>
        </p:nvCxnSpPr>
        <p:spPr>
          <a:xfrm rot="10800000">
            <a:off x="636671" y="1540293"/>
            <a:ext cx="10918658" cy="0"/>
          </a:xfrm>
          <a:prstGeom prst="straightConnector1">
            <a:avLst/>
          </a:prstGeom>
          <a:noFill/>
          <a:ln cap="flat" cmpd="sng" w="19050">
            <a:solidFill>
              <a:srgbClr val="E66262"/>
            </a:solidFill>
            <a:prstDash val="solid"/>
            <a:miter lim="80"/>
            <a:headEnd len="sm" w="sm" type="none"/>
            <a:tailEnd len="sm" w="sm" type="none"/>
          </a:ln>
        </p:spPr>
      </p:cxnSp>
      <p:pic>
        <p:nvPicPr>
          <p:cNvPr id="223" name="Google Shape;223;p26"/>
          <p:cNvPicPr preferRelativeResize="0"/>
          <p:nvPr/>
        </p:nvPicPr>
        <p:blipFill>
          <a:blip r:embed="rId3">
            <a:alphaModFix/>
          </a:blip>
          <a:stretch>
            <a:fillRect/>
          </a:stretch>
        </p:blipFill>
        <p:spPr>
          <a:xfrm>
            <a:off x="3167188" y="3246725"/>
            <a:ext cx="5857624" cy="3284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Coefficient Gating</a:t>
            </a:r>
            <a:endParaRPr/>
          </a:p>
        </p:txBody>
      </p:sp>
      <p:sp>
        <p:nvSpPr>
          <p:cNvPr id="230" name="Google Shape;230;p27"/>
          <p:cNvSpPr txBox="1"/>
          <p:nvPr>
            <p:ph idx="1" type="body"/>
          </p:nvPr>
        </p:nvSpPr>
        <p:spPr>
          <a:xfrm>
            <a:off x="838200" y="1825626"/>
            <a:ext cx="10515600" cy="171400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The optimization of coefficients after evolving the tree can sometimes result in locally-optimal values that are globally non-optimal. This feature allows for the selection of the initial tree, </a:t>
            </a:r>
            <a:r>
              <a:rPr lang="en-US">
                <a:solidFill>
                  <a:srgbClr val="E66262"/>
                </a:solidFill>
              </a:rPr>
              <a:t>preventing a post-evolution degradation in the fitness</a:t>
            </a:r>
            <a:r>
              <a:rPr lang="en-US"/>
              <a:t>.</a:t>
            </a:r>
            <a:endParaRPr/>
          </a:p>
        </p:txBody>
      </p:sp>
      <p:sp>
        <p:nvSpPr>
          <p:cNvPr id="231" name="Google Shape;231;p27"/>
          <p:cNvSpPr txBox="1"/>
          <p:nvPr/>
        </p:nvSpPr>
        <p:spPr>
          <a:xfrm>
            <a:off x="11742821" y="6563226"/>
            <a:ext cx="449179" cy="24622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AEAEAE"/>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cxnSp>
        <p:nvCxnSpPr>
          <p:cNvPr id="232" name="Google Shape;232;p27"/>
          <p:cNvCxnSpPr/>
          <p:nvPr/>
        </p:nvCxnSpPr>
        <p:spPr>
          <a:xfrm rot="10800000">
            <a:off x="636671" y="1540293"/>
            <a:ext cx="10918658" cy="0"/>
          </a:xfrm>
          <a:prstGeom prst="straightConnector1">
            <a:avLst/>
          </a:prstGeom>
          <a:noFill/>
          <a:ln cap="flat" cmpd="sng" w="19050">
            <a:solidFill>
              <a:srgbClr val="E66262"/>
            </a:solidFill>
            <a:prstDash val="solid"/>
            <a:miter lim="80"/>
            <a:headEnd len="sm" w="sm" type="none"/>
            <a:tailEnd len="sm" w="sm" type="none"/>
          </a:ln>
        </p:spPr>
      </p:cxnSp>
      <p:pic>
        <p:nvPicPr>
          <p:cNvPr id="233" name="Google Shape;233;p27"/>
          <p:cNvPicPr preferRelativeResize="0"/>
          <p:nvPr/>
        </p:nvPicPr>
        <p:blipFill>
          <a:blip r:embed="rId3">
            <a:alphaModFix/>
          </a:blip>
          <a:stretch>
            <a:fillRect/>
          </a:stretch>
        </p:blipFill>
        <p:spPr>
          <a:xfrm>
            <a:off x="2943913" y="3539630"/>
            <a:ext cx="6304179" cy="301357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Final Results</a:t>
            </a:r>
            <a:endParaRPr/>
          </a:p>
        </p:txBody>
      </p:sp>
      <p:sp>
        <p:nvSpPr>
          <p:cNvPr id="240" name="Google Shape;240;p28"/>
          <p:cNvSpPr txBox="1"/>
          <p:nvPr/>
        </p:nvSpPr>
        <p:spPr>
          <a:xfrm>
            <a:off x="11742821" y="6563226"/>
            <a:ext cx="449100" cy="246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AEAEAE"/>
                </a:solidFill>
                <a:latin typeface="Arial"/>
                <a:ea typeface="Arial"/>
                <a:cs typeface="Arial"/>
                <a:sym typeface="Arial"/>
              </a:rPr>
              <a:t>13</a:t>
            </a:r>
            <a:endParaRPr/>
          </a:p>
        </p:txBody>
      </p:sp>
      <p:cxnSp>
        <p:nvCxnSpPr>
          <p:cNvPr id="241" name="Google Shape;241;p28"/>
          <p:cNvCxnSpPr/>
          <p:nvPr/>
        </p:nvCxnSpPr>
        <p:spPr>
          <a:xfrm rot="10800000">
            <a:off x="636529" y="1540293"/>
            <a:ext cx="10918800" cy="0"/>
          </a:xfrm>
          <a:prstGeom prst="straightConnector1">
            <a:avLst/>
          </a:prstGeom>
          <a:noFill/>
          <a:ln cap="flat" cmpd="sng" w="19050">
            <a:solidFill>
              <a:srgbClr val="E66262"/>
            </a:solidFill>
            <a:prstDash val="solid"/>
            <a:miter lim="8000"/>
            <a:headEnd len="sm" w="sm" type="none"/>
            <a:tailEnd len="sm" w="sm" type="none"/>
          </a:ln>
        </p:spPr>
      </p:cxnSp>
      <p:pic>
        <p:nvPicPr>
          <p:cNvPr id="242" name="Google Shape;242;p28"/>
          <p:cNvPicPr preferRelativeResize="0"/>
          <p:nvPr/>
        </p:nvPicPr>
        <p:blipFill>
          <a:blip r:embed="rId3">
            <a:alphaModFix/>
          </a:blip>
          <a:stretch>
            <a:fillRect/>
          </a:stretch>
        </p:blipFill>
        <p:spPr>
          <a:xfrm>
            <a:off x="1773575" y="1690825"/>
            <a:ext cx="8644711" cy="48623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Final Results</a:t>
            </a:r>
            <a:endParaRPr/>
          </a:p>
        </p:txBody>
      </p:sp>
      <p:sp>
        <p:nvSpPr>
          <p:cNvPr id="249" name="Google Shape;249;p29"/>
          <p:cNvSpPr txBox="1"/>
          <p:nvPr/>
        </p:nvSpPr>
        <p:spPr>
          <a:xfrm>
            <a:off x="11742821" y="6563226"/>
            <a:ext cx="449100" cy="246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AEAEAE"/>
                </a:solidFill>
                <a:latin typeface="Arial"/>
                <a:ea typeface="Arial"/>
                <a:cs typeface="Arial"/>
                <a:sym typeface="Arial"/>
              </a:rPr>
              <a:t>13</a:t>
            </a:r>
            <a:endParaRPr/>
          </a:p>
        </p:txBody>
      </p:sp>
      <p:cxnSp>
        <p:nvCxnSpPr>
          <p:cNvPr id="250" name="Google Shape;250;p29"/>
          <p:cNvCxnSpPr/>
          <p:nvPr/>
        </p:nvCxnSpPr>
        <p:spPr>
          <a:xfrm rot="10800000">
            <a:off x="636529" y="1540293"/>
            <a:ext cx="10918800" cy="0"/>
          </a:xfrm>
          <a:prstGeom prst="straightConnector1">
            <a:avLst/>
          </a:prstGeom>
          <a:noFill/>
          <a:ln cap="flat" cmpd="sng" w="19050">
            <a:solidFill>
              <a:srgbClr val="E66262"/>
            </a:solidFill>
            <a:prstDash val="solid"/>
            <a:miter lim="8000"/>
            <a:headEnd len="sm" w="sm" type="none"/>
            <a:tailEnd len="sm" w="sm" type="none"/>
          </a:ln>
        </p:spPr>
      </p:cxnSp>
      <p:pic>
        <p:nvPicPr>
          <p:cNvPr id="251" name="Google Shape;251;p29"/>
          <p:cNvPicPr preferRelativeResize="0"/>
          <p:nvPr/>
        </p:nvPicPr>
        <p:blipFill>
          <a:blip r:embed="rId3">
            <a:alphaModFix/>
          </a:blip>
          <a:stretch>
            <a:fillRect/>
          </a:stretch>
        </p:blipFill>
        <p:spPr>
          <a:xfrm>
            <a:off x="1773650" y="1690825"/>
            <a:ext cx="8644711" cy="48623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Final Results</a:t>
            </a:r>
            <a:endParaRPr/>
          </a:p>
        </p:txBody>
      </p:sp>
      <p:sp>
        <p:nvSpPr>
          <p:cNvPr id="258" name="Google Shape;258;p30"/>
          <p:cNvSpPr txBox="1"/>
          <p:nvPr/>
        </p:nvSpPr>
        <p:spPr>
          <a:xfrm>
            <a:off x="11742821" y="6563226"/>
            <a:ext cx="449100" cy="246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AEAEAE"/>
                </a:solidFill>
                <a:latin typeface="Arial"/>
                <a:ea typeface="Arial"/>
                <a:cs typeface="Arial"/>
                <a:sym typeface="Arial"/>
              </a:rPr>
              <a:t>13</a:t>
            </a:r>
            <a:endParaRPr/>
          </a:p>
        </p:txBody>
      </p:sp>
      <p:cxnSp>
        <p:nvCxnSpPr>
          <p:cNvPr id="259" name="Google Shape;259;p30"/>
          <p:cNvCxnSpPr/>
          <p:nvPr/>
        </p:nvCxnSpPr>
        <p:spPr>
          <a:xfrm rot="10800000">
            <a:off x="636529" y="1540293"/>
            <a:ext cx="10918800" cy="0"/>
          </a:xfrm>
          <a:prstGeom prst="straightConnector1">
            <a:avLst/>
          </a:prstGeom>
          <a:noFill/>
          <a:ln cap="flat" cmpd="sng" w="19050">
            <a:solidFill>
              <a:srgbClr val="E66262"/>
            </a:solidFill>
            <a:prstDash val="solid"/>
            <a:miter lim="8000"/>
            <a:headEnd len="sm" w="sm" type="none"/>
            <a:tailEnd len="sm" w="sm" type="none"/>
          </a:ln>
        </p:spPr>
      </p:cxnSp>
      <p:pic>
        <p:nvPicPr>
          <p:cNvPr id="260" name="Google Shape;260;p30"/>
          <p:cNvPicPr preferRelativeResize="0"/>
          <p:nvPr/>
        </p:nvPicPr>
        <p:blipFill>
          <a:blip r:embed="rId3">
            <a:alphaModFix/>
          </a:blip>
          <a:stretch>
            <a:fillRect/>
          </a:stretch>
        </p:blipFill>
        <p:spPr>
          <a:xfrm>
            <a:off x="1010125" y="1690825"/>
            <a:ext cx="10171750" cy="48623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Final Results</a:t>
            </a:r>
            <a:endParaRPr/>
          </a:p>
        </p:txBody>
      </p:sp>
      <p:sp>
        <p:nvSpPr>
          <p:cNvPr id="267" name="Google Shape;267;p31"/>
          <p:cNvSpPr txBox="1"/>
          <p:nvPr/>
        </p:nvSpPr>
        <p:spPr>
          <a:xfrm>
            <a:off x="11742821" y="6563226"/>
            <a:ext cx="449100" cy="246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AEAEAE"/>
                </a:solidFill>
                <a:latin typeface="Arial"/>
                <a:ea typeface="Arial"/>
                <a:cs typeface="Arial"/>
                <a:sym typeface="Arial"/>
              </a:rPr>
              <a:t>13</a:t>
            </a:r>
            <a:endParaRPr/>
          </a:p>
        </p:txBody>
      </p:sp>
      <p:cxnSp>
        <p:nvCxnSpPr>
          <p:cNvPr id="268" name="Google Shape;268;p31"/>
          <p:cNvCxnSpPr/>
          <p:nvPr/>
        </p:nvCxnSpPr>
        <p:spPr>
          <a:xfrm rot="10800000">
            <a:off x="636529" y="1540293"/>
            <a:ext cx="10918800" cy="0"/>
          </a:xfrm>
          <a:prstGeom prst="straightConnector1">
            <a:avLst/>
          </a:prstGeom>
          <a:noFill/>
          <a:ln cap="flat" cmpd="sng" w="19050">
            <a:solidFill>
              <a:srgbClr val="E66262"/>
            </a:solidFill>
            <a:prstDash val="solid"/>
            <a:miter lim="8000"/>
            <a:headEnd len="sm" w="sm" type="none"/>
            <a:tailEnd len="sm" w="sm" type="none"/>
          </a:ln>
        </p:spPr>
      </p:cxnSp>
      <p:pic>
        <p:nvPicPr>
          <p:cNvPr id="269" name="Google Shape;269;p31" title="06_test_episode_scores.png"/>
          <p:cNvPicPr preferRelativeResize="0"/>
          <p:nvPr/>
        </p:nvPicPr>
        <p:blipFill>
          <a:blip r:embed="rId3">
            <a:alphaModFix/>
          </a:blip>
          <a:stretch>
            <a:fillRect/>
          </a:stretch>
        </p:blipFill>
        <p:spPr>
          <a:xfrm>
            <a:off x="1726113" y="1690825"/>
            <a:ext cx="8739778" cy="50429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32" title="generation_0010_seed_1635199478.gif"/>
          <p:cNvPicPr preferRelativeResize="0"/>
          <p:nvPr/>
        </p:nvPicPr>
        <p:blipFill>
          <a:blip r:embed="rId3">
            <a:alphaModFix/>
          </a:blip>
          <a:stretch>
            <a:fillRect/>
          </a:stretch>
        </p:blipFill>
        <p:spPr>
          <a:xfrm>
            <a:off x="0" y="-40175"/>
            <a:ext cx="4123925" cy="2749325"/>
          </a:xfrm>
          <a:prstGeom prst="rect">
            <a:avLst/>
          </a:prstGeom>
          <a:noFill/>
          <a:ln>
            <a:noFill/>
          </a:ln>
        </p:spPr>
      </p:pic>
      <p:pic>
        <p:nvPicPr>
          <p:cNvPr id="276" name="Google Shape;276;p32" title="generation_0050_seed_1635199478.gif"/>
          <p:cNvPicPr preferRelativeResize="0"/>
          <p:nvPr/>
        </p:nvPicPr>
        <p:blipFill>
          <a:blip r:embed="rId4">
            <a:alphaModFix/>
          </a:blip>
          <a:stretch>
            <a:fillRect/>
          </a:stretch>
        </p:blipFill>
        <p:spPr>
          <a:xfrm>
            <a:off x="4034038" y="-219338"/>
            <a:ext cx="4123925" cy="2749252"/>
          </a:xfrm>
          <a:prstGeom prst="rect">
            <a:avLst/>
          </a:prstGeom>
          <a:noFill/>
          <a:ln>
            <a:noFill/>
          </a:ln>
        </p:spPr>
      </p:pic>
      <p:pic>
        <p:nvPicPr>
          <p:cNvPr id="277" name="Google Shape;277;p32" title="generation_0080_seed_1635199478.gif"/>
          <p:cNvPicPr preferRelativeResize="0"/>
          <p:nvPr/>
        </p:nvPicPr>
        <p:blipFill>
          <a:blip r:embed="rId5">
            <a:alphaModFix/>
          </a:blip>
          <a:stretch>
            <a:fillRect/>
          </a:stretch>
        </p:blipFill>
        <p:spPr>
          <a:xfrm>
            <a:off x="8128275" y="-90950"/>
            <a:ext cx="4063725" cy="2709150"/>
          </a:xfrm>
          <a:prstGeom prst="rect">
            <a:avLst/>
          </a:prstGeom>
          <a:noFill/>
          <a:ln>
            <a:noFill/>
          </a:ln>
        </p:spPr>
      </p:pic>
      <p:sp>
        <p:nvSpPr>
          <p:cNvPr id="278" name="Google Shape;278;p32"/>
          <p:cNvSpPr txBox="1"/>
          <p:nvPr/>
        </p:nvSpPr>
        <p:spPr>
          <a:xfrm>
            <a:off x="1598908" y="2618200"/>
            <a:ext cx="9261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Gen 10</a:t>
            </a:r>
            <a:endParaRPr sz="1700">
              <a:solidFill>
                <a:schemeClr val="dk1"/>
              </a:solidFill>
            </a:endParaRPr>
          </a:p>
        </p:txBody>
      </p:sp>
      <p:sp>
        <p:nvSpPr>
          <p:cNvPr id="279" name="Google Shape;279;p32"/>
          <p:cNvSpPr txBox="1"/>
          <p:nvPr/>
        </p:nvSpPr>
        <p:spPr>
          <a:xfrm>
            <a:off x="5632958" y="2618200"/>
            <a:ext cx="9261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Gen 50</a:t>
            </a:r>
            <a:endParaRPr sz="1700">
              <a:solidFill>
                <a:schemeClr val="dk1"/>
              </a:solidFill>
            </a:endParaRPr>
          </a:p>
        </p:txBody>
      </p:sp>
      <p:sp>
        <p:nvSpPr>
          <p:cNvPr id="280" name="Google Shape;280;p32"/>
          <p:cNvSpPr txBox="1"/>
          <p:nvPr/>
        </p:nvSpPr>
        <p:spPr>
          <a:xfrm>
            <a:off x="9697096" y="2618200"/>
            <a:ext cx="9261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Gen 80</a:t>
            </a:r>
            <a:endParaRPr sz="1700">
              <a:solidFill>
                <a:schemeClr val="dk1"/>
              </a:solidFill>
            </a:endParaRPr>
          </a:p>
        </p:txBody>
      </p:sp>
      <p:pic>
        <p:nvPicPr>
          <p:cNvPr id="281" name="Google Shape;281;p32" title="generation_0120_seed_1635199478.gif"/>
          <p:cNvPicPr preferRelativeResize="0"/>
          <p:nvPr/>
        </p:nvPicPr>
        <p:blipFill>
          <a:blip r:embed="rId6">
            <a:alphaModFix/>
          </a:blip>
          <a:stretch>
            <a:fillRect/>
          </a:stretch>
        </p:blipFill>
        <p:spPr>
          <a:xfrm>
            <a:off x="0" y="3156099"/>
            <a:ext cx="4063725" cy="2709150"/>
          </a:xfrm>
          <a:prstGeom prst="rect">
            <a:avLst/>
          </a:prstGeom>
          <a:noFill/>
          <a:ln>
            <a:noFill/>
          </a:ln>
        </p:spPr>
      </p:pic>
      <p:pic>
        <p:nvPicPr>
          <p:cNvPr id="282" name="Google Shape;282;p32" title="generation_0160_seed_1635199478.gif"/>
          <p:cNvPicPr preferRelativeResize="0"/>
          <p:nvPr/>
        </p:nvPicPr>
        <p:blipFill>
          <a:blip r:embed="rId7">
            <a:alphaModFix/>
          </a:blip>
          <a:stretch>
            <a:fillRect/>
          </a:stretch>
        </p:blipFill>
        <p:spPr>
          <a:xfrm>
            <a:off x="4063725" y="3156100"/>
            <a:ext cx="4221800" cy="2814525"/>
          </a:xfrm>
          <a:prstGeom prst="rect">
            <a:avLst/>
          </a:prstGeom>
          <a:noFill/>
          <a:ln>
            <a:noFill/>
          </a:ln>
        </p:spPr>
      </p:pic>
      <p:pic>
        <p:nvPicPr>
          <p:cNvPr id="283" name="Google Shape;283;p32" title="generation_0200_seed_1635199478.gif"/>
          <p:cNvPicPr preferRelativeResize="0"/>
          <p:nvPr/>
        </p:nvPicPr>
        <p:blipFill>
          <a:blip r:embed="rId8">
            <a:alphaModFix/>
          </a:blip>
          <a:stretch>
            <a:fillRect/>
          </a:stretch>
        </p:blipFill>
        <p:spPr>
          <a:xfrm>
            <a:off x="8285525" y="3176438"/>
            <a:ext cx="4160762" cy="2773850"/>
          </a:xfrm>
          <a:prstGeom prst="rect">
            <a:avLst/>
          </a:prstGeom>
          <a:noFill/>
          <a:ln>
            <a:noFill/>
          </a:ln>
        </p:spPr>
      </p:pic>
      <p:sp>
        <p:nvSpPr>
          <p:cNvPr id="284" name="Google Shape;284;p32"/>
          <p:cNvSpPr txBox="1"/>
          <p:nvPr/>
        </p:nvSpPr>
        <p:spPr>
          <a:xfrm>
            <a:off x="1525261" y="5926650"/>
            <a:ext cx="10734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Gen 120</a:t>
            </a:r>
            <a:endParaRPr sz="1700">
              <a:solidFill>
                <a:schemeClr val="dk1"/>
              </a:solidFill>
            </a:endParaRPr>
          </a:p>
        </p:txBody>
      </p:sp>
      <p:sp>
        <p:nvSpPr>
          <p:cNvPr id="285" name="Google Shape;285;p32"/>
          <p:cNvSpPr txBox="1"/>
          <p:nvPr/>
        </p:nvSpPr>
        <p:spPr>
          <a:xfrm>
            <a:off x="5637936" y="5970625"/>
            <a:ext cx="10734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Gen 160</a:t>
            </a:r>
            <a:endParaRPr sz="1700">
              <a:solidFill>
                <a:schemeClr val="dk1"/>
              </a:solidFill>
            </a:endParaRPr>
          </a:p>
        </p:txBody>
      </p:sp>
      <p:sp>
        <p:nvSpPr>
          <p:cNvPr id="286" name="Google Shape;286;p32"/>
          <p:cNvSpPr txBox="1"/>
          <p:nvPr/>
        </p:nvSpPr>
        <p:spPr>
          <a:xfrm>
            <a:off x="10083511" y="5950300"/>
            <a:ext cx="10734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Gen 200</a:t>
            </a:r>
            <a:endParaRPr sz="17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3"/>
          <p:cNvSpPr txBox="1"/>
          <p:nvPr/>
        </p:nvSpPr>
        <p:spPr>
          <a:xfrm>
            <a:off x="1598908" y="2618200"/>
            <a:ext cx="9261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Seed 7</a:t>
            </a:r>
            <a:endParaRPr sz="1700">
              <a:solidFill>
                <a:schemeClr val="dk1"/>
              </a:solidFill>
            </a:endParaRPr>
          </a:p>
        </p:txBody>
      </p:sp>
      <p:sp>
        <p:nvSpPr>
          <p:cNvPr id="293" name="Google Shape;293;p33"/>
          <p:cNvSpPr txBox="1"/>
          <p:nvPr/>
        </p:nvSpPr>
        <p:spPr>
          <a:xfrm>
            <a:off x="5632949" y="2618200"/>
            <a:ext cx="10650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Seed </a:t>
            </a:r>
            <a:r>
              <a:rPr lang="en-US" sz="1700">
                <a:solidFill>
                  <a:schemeClr val="dk1"/>
                </a:solidFill>
              </a:rPr>
              <a:t>42</a:t>
            </a:r>
            <a:endParaRPr sz="1700">
              <a:solidFill>
                <a:schemeClr val="dk1"/>
              </a:solidFill>
            </a:endParaRPr>
          </a:p>
        </p:txBody>
      </p:sp>
      <p:sp>
        <p:nvSpPr>
          <p:cNvPr id="294" name="Google Shape;294;p33"/>
          <p:cNvSpPr txBox="1"/>
          <p:nvPr/>
        </p:nvSpPr>
        <p:spPr>
          <a:xfrm>
            <a:off x="9697100" y="2618200"/>
            <a:ext cx="11148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Seed 777</a:t>
            </a:r>
            <a:endParaRPr sz="1700">
              <a:solidFill>
                <a:schemeClr val="dk1"/>
              </a:solidFill>
            </a:endParaRPr>
          </a:p>
        </p:txBody>
      </p:sp>
      <p:sp>
        <p:nvSpPr>
          <p:cNvPr id="295" name="Google Shape;295;p33"/>
          <p:cNvSpPr txBox="1"/>
          <p:nvPr/>
        </p:nvSpPr>
        <p:spPr>
          <a:xfrm>
            <a:off x="1385897" y="5950300"/>
            <a:ext cx="13521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Seed 2025</a:t>
            </a:r>
            <a:endParaRPr sz="1700">
              <a:solidFill>
                <a:schemeClr val="dk1"/>
              </a:solidFill>
            </a:endParaRPr>
          </a:p>
        </p:txBody>
      </p:sp>
      <p:sp>
        <p:nvSpPr>
          <p:cNvPr id="296" name="Google Shape;296;p33"/>
          <p:cNvSpPr txBox="1"/>
          <p:nvPr/>
        </p:nvSpPr>
        <p:spPr>
          <a:xfrm>
            <a:off x="5486100" y="5950300"/>
            <a:ext cx="13521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Seed 9999</a:t>
            </a:r>
            <a:endParaRPr sz="1700">
              <a:solidFill>
                <a:schemeClr val="dk1"/>
              </a:solidFill>
            </a:endParaRPr>
          </a:p>
        </p:txBody>
      </p:sp>
      <p:sp>
        <p:nvSpPr>
          <p:cNvPr id="297" name="Google Shape;297;p33"/>
          <p:cNvSpPr txBox="1"/>
          <p:nvPr/>
        </p:nvSpPr>
        <p:spPr>
          <a:xfrm>
            <a:off x="9863825" y="5950300"/>
            <a:ext cx="1565400" cy="3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rPr>
              <a:t>Seed 45298</a:t>
            </a:r>
            <a:endParaRPr sz="1700">
              <a:solidFill>
                <a:schemeClr val="dk1"/>
              </a:solidFill>
            </a:endParaRPr>
          </a:p>
        </p:txBody>
      </p:sp>
      <p:pic>
        <p:nvPicPr>
          <p:cNvPr id="298" name="Google Shape;298;p33" title="seed_7.gif"/>
          <p:cNvPicPr preferRelativeResize="0"/>
          <p:nvPr/>
        </p:nvPicPr>
        <p:blipFill>
          <a:blip r:embed="rId3">
            <a:alphaModFix/>
          </a:blip>
          <a:stretch>
            <a:fillRect/>
          </a:stretch>
        </p:blipFill>
        <p:spPr>
          <a:xfrm>
            <a:off x="-222537" y="-90962"/>
            <a:ext cx="4286250" cy="2857500"/>
          </a:xfrm>
          <a:prstGeom prst="rect">
            <a:avLst/>
          </a:prstGeom>
          <a:noFill/>
          <a:ln>
            <a:noFill/>
          </a:ln>
        </p:spPr>
      </p:pic>
      <p:pic>
        <p:nvPicPr>
          <p:cNvPr id="299" name="Google Shape;299;p33" title="seed_42.gif"/>
          <p:cNvPicPr preferRelativeResize="0"/>
          <p:nvPr/>
        </p:nvPicPr>
        <p:blipFill>
          <a:blip r:embed="rId4">
            <a:alphaModFix/>
          </a:blip>
          <a:stretch>
            <a:fillRect/>
          </a:stretch>
        </p:blipFill>
        <p:spPr>
          <a:xfrm>
            <a:off x="4063725" y="-90950"/>
            <a:ext cx="4286250" cy="2857500"/>
          </a:xfrm>
          <a:prstGeom prst="rect">
            <a:avLst/>
          </a:prstGeom>
          <a:noFill/>
          <a:ln>
            <a:noFill/>
          </a:ln>
        </p:spPr>
      </p:pic>
      <p:pic>
        <p:nvPicPr>
          <p:cNvPr id="300" name="Google Shape;300;p33" title="seed_777.gif"/>
          <p:cNvPicPr preferRelativeResize="0"/>
          <p:nvPr/>
        </p:nvPicPr>
        <p:blipFill>
          <a:blip r:embed="rId5">
            <a:alphaModFix/>
          </a:blip>
          <a:stretch>
            <a:fillRect/>
          </a:stretch>
        </p:blipFill>
        <p:spPr>
          <a:xfrm>
            <a:off x="8285525" y="-90950"/>
            <a:ext cx="4286250" cy="2857500"/>
          </a:xfrm>
          <a:prstGeom prst="rect">
            <a:avLst/>
          </a:prstGeom>
          <a:noFill/>
          <a:ln>
            <a:noFill/>
          </a:ln>
        </p:spPr>
      </p:pic>
      <p:pic>
        <p:nvPicPr>
          <p:cNvPr id="301" name="Google Shape;301;p33" title="seed_2025.gif"/>
          <p:cNvPicPr preferRelativeResize="0"/>
          <p:nvPr/>
        </p:nvPicPr>
        <p:blipFill>
          <a:blip r:embed="rId6">
            <a:alphaModFix/>
          </a:blip>
          <a:stretch>
            <a:fillRect/>
          </a:stretch>
        </p:blipFill>
        <p:spPr>
          <a:xfrm>
            <a:off x="0" y="3203950"/>
            <a:ext cx="4063725" cy="2709150"/>
          </a:xfrm>
          <a:prstGeom prst="rect">
            <a:avLst/>
          </a:prstGeom>
          <a:noFill/>
          <a:ln>
            <a:noFill/>
          </a:ln>
        </p:spPr>
      </p:pic>
      <p:pic>
        <p:nvPicPr>
          <p:cNvPr id="302" name="Google Shape;302;p33" title="seed_9999.gif"/>
          <p:cNvPicPr preferRelativeResize="0"/>
          <p:nvPr/>
        </p:nvPicPr>
        <p:blipFill>
          <a:blip r:embed="rId7">
            <a:alphaModFix/>
          </a:blip>
          <a:stretch>
            <a:fillRect/>
          </a:stretch>
        </p:blipFill>
        <p:spPr>
          <a:xfrm>
            <a:off x="4063725" y="3203950"/>
            <a:ext cx="4160788" cy="2773850"/>
          </a:xfrm>
          <a:prstGeom prst="rect">
            <a:avLst/>
          </a:prstGeom>
          <a:noFill/>
          <a:ln>
            <a:noFill/>
          </a:ln>
        </p:spPr>
      </p:pic>
      <p:pic>
        <p:nvPicPr>
          <p:cNvPr id="303" name="Google Shape;303;p33" title="seed_54321.gif"/>
          <p:cNvPicPr preferRelativeResize="0"/>
          <p:nvPr/>
        </p:nvPicPr>
        <p:blipFill>
          <a:blip r:embed="rId8">
            <a:alphaModFix/>
          </a:blip>
          <a:stretch>
            <a:fillRect/>
          </a:stretch>
        </p:blipFill>
        <p:spPr>
          <a:xfrm>
            <a:off x="8224526" y="3203950"/>
            <a:ext cx="3967474" cy="264500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Thanks for your attention!</a:t>
            </a:r>
            <a:endParaRPr/>
          </a:p>
        </p:txBody>
      </p:sp>
      <p:sp>
        <p:nvSpPr>
          <p:cNvPr id="310" name="Google Shape;310;p34"/>
          <p:cNvSpPr txBox="1"/>
          <p:nvPr/>
        </p:nvSpPr>
        <p:spPr>
          <a:xfrm>
            <a:off x="11742821" y="6563226"/>
            <a:ext cx="449100" cy="246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AEAEAE"/>
              </a:buClr>
              <a:buSzPts val="1000"/>
              <a:buFont typeface="Arial"/>
              <a:buNone/>
            </a:pPr>
            <a:r>
              <a:rPr b="0" i="0" lang="en-US" sz="1000" u="none" cap="none" strike="noStrike">
                <a:solidFill>
                  <a:srgbClr val="AEAEAE"/>
                </a:solidFill>
                <a:latin typeface="Arial"/>
                <a:ea typeface="Arial"/>
                <a:cs typeface="Arial"/>
                <a:sym typeface="Arial"/>
              </a:rPr>
              <a:t>9</a:t>
            </a:r>
            <a:endParaRPr b="0" i="0" sz="1800" u="none" cap="none" strike="noStrike">
              <a:solidFill>
                <a:schemeClr val="dk1"/>
              </a:solidFill>
              <a:latin typeface="Arial"/>
              <a:ea typeface="Arial"/>
              <a:cs typeface="Arial"/>
              <a:sym typeface="Arial"/>
            </a:endParaRPr>
          </a:p>
        </p:txBody>
      </p:sp>
      <p:cxnSp>
        <p:nvCxnSpPr>
          <p:cNvPr id="311" name="Google Shape;311;p34"/>
          <p:cNvCxnSpPr/>
          <p:nvPr/>
        </p:nvCxnSpPr>
        <p:spPr>
          <a:xfrm rot="10800000">
            <a:off x="636529" y="1540293"/>
            <a:ext cx="10918800" cy="0"/>
          </a:xfrm>
          <a:prstGeom prst="straightConnector1">
            <a:avLst/>
          </a:prstGeom>
          <a:noFill/>
          <a:ln cap="flat" cmpd="sng" w="19050">
            <a:solidFill>
              <a:srgbClr val="E66262"/>
            </a:solidFill>
            <a:prstDash val="solid"/>
            <a:miter lim="0"/>
            <a:headEnd len="sm" w="sm" type="none"/>
            <a:tailEnd len="sm" w="sm" type="none"/>
          </a:ln>
        </p:spPr>
      </p:cxnSp>
      <p:pic>
        <p:nvPicPr>
          <p:cNvPr id="312" name="Google Shape;312;p34" title="left_engine_lander.gif"/>
          <p:cNvPicPr preferRelativeResize="0"/>
          <p:nvPr/>
        </p:nvPicPr>
        <p:blipFill>
          <a:blip r:embed="rId3">
            <a:alphaModFix/>
          </a:blip>
          <a:stretch>
            <a:fillRect/>
          </a:stretch>
        </p:blipFill>
        <p:spPr>
          <a:xfrm>
            <a:off x="1977825" y="1690825"/>
            <a:ext cx="8236200" cy="5490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Georgia"/>
              <a:buNone/>
            </a:pPr>
            <a:r>
              <a:rPr b="1" lang="en-US">
                <a:latin typeface="Georgia"/>
                <a:ea typeface="Georgia"/>
                <a:cs typeface="Georgia"/>
                <a:sym typeface="Georgia"/>
              </a:rPr>
              <a:t>Final Results</a:t>
            </a:r>
            <a:endParaRPr/>
          </a:p>
        </p:txBody>
      </p:sp>
      <p:sp>
        <p:nvSpPr>
          <p:cNvPr id="319" name="Google Shape;319;p35"/>
          <p:cNvSpPr txBox="1"/>
          <p:nvPr/>
        </p:nvSpPr>
        <p:spPr>
          <a:xfrm>
            <a:off x="11742821" y="6563226"/>
            <a:ext cx="449100" cy="246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000">
                <a:solidFill>
                  <a:srgbClr val="AEAEAE"/>
                </a:solidFill>
                <a:latin typeface="Arial"/>
                <a:ea typeface="Arial"/>
                <a:cs typeface="Arial"/>
                <a:sym typeface="Arial"/>
              </a:rPr>
              <a:t>13</a:t>
            </a:r>
            <a:endParaRPr/>
          </a:p>
        </p:txBody>
      </p:sp>
      <p:cxnSp>
        <p:nvCxnSpPr>
          <p:cNvPr id="320" name="Google Shape;320;p35"/>
          <p:cNvCxnSpPr/>
          <p:nvPr/>
        </p:nvCxnSpPr>
        <p:spPr>
          <a:xfrm rot="10800000">
            <a:off x="636529" y="1540293"/>
            <a:ext cx="10918800" cy="0"/>
          </a:xfrm>
          <a:prstGeom prst="straightConnector1">
            <a:avLst/>
          </a:prstGeom>
          <a:noFill/>
          <a:ln cap="flat" cmpd="sng" w="19050">
            <a:solidFill>
              <a:srgbClr val="E66262"/>
            </a:solidFill>
            <a:prstDash val="solid"/>
            <a:miter lim="8000"/>
            <a:headEnd len="sm" w="sm" type="none"/>
            <a:tailEnd len="sm" w="sm" type="none"/>
          </a:ln>
        </p:spPr>
      </p:cxnSp>
      <p:pic>
        <p:nvPicPr>
          <p:cNvPr id="321" name="Google Shape;321;p35"/>
          <p:cNvPicPr preferRelativeResize="0"/>
          <p:nvPr/>
        </p:nvPicPr>
        <p:blipFill>
          <a:blip r:embed="rId3">
            <a:alphaModFix/>
          </a:blip>
          <a:stretch>
            <a:fillRect/>
          </a:stretch>
        </p:blipFill>
        <p:spPr>
          <a:xfrm>
            <a:off x="1773650" y="1784600"/>
            <a:ext cx="8644711" cy="48623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